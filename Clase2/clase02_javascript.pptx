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12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CLASE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Tipos, Objetos,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Arreglos y Operadores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A0AECB"/>
                </a:solidFill>
              </a:rPr>
              <a:t>Profesor</a:t>
            </a:r>
            <a:r>
              <a:rPr lang="en-US" sz="1300" dirty="0">
                <a:solidFill>
                  <a:srgbClr val="A0AECB"/>
                </a:solidFill>
              </a:rPr>
              <a:t>: Javier Gutiérrez ·  Coding Bootcamps ESPOL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47872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Módulo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3547872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Vie 10 abr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3547872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19h30 – 21h30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0" y="1645920"/>
            <a:ext cx="1920240" cy="19202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 del día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Repaso rápido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Variables, tipos primitivos vistos en la clase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Null, Undefined y Symbol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Los tres tipos que faltaron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Tipos compuestos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Objects y Arrays en profundidad con ejercicios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Operadores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Aritméticos, de asignación y ternario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Práctica integradora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Mini proyecto: ficha de un estudiante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Repaso rápido — ¿qué devuelve esto?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Escribilo en la consola antes de ver la respuesta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169164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9768" y="1344168"/>
            <a:ext cx="2468880" cy="685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" y="138074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"hola"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" y="2130552"/>
            <a:ext cx="2468880" cy="548640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2167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"string"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97480" cy="169164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0128" y="1344168"/>
            <a:ext cx="2468880" cy="685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4992" y="138074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42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0128" y="2130552"/>
            <a:ext cx="2468880" cy="548640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2167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"number"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697480" cy="169164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90488" y="1344168"/>
            <a:ext cx="2468880" cy="685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45352" y="138074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true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0488" y="2130552"/>
            <a:ext cx="2468880" cy="548640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45352" y="2167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"boolean"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2697480" cy="169164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9768" y="3218688"/>
            <a:ext cx="2468880" cy="685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" y="325526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" y="4005072"/>
            <a:ext cx="2468880" cy="548640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" y="40416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"undefined"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3108960"/>
            <a:ext cx="2697480" cy="169164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10128" y="3218688"/>
            <a:ext cx="2468880" cy="685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64992" y="325526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10128" y="4005072"/>
            <a:ext cx="2468880" cy="548640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64992" y="40416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300" b="1" dirty="0" err="1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Los tres tipos que faltaron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123444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2344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Null — vacío intencional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Lo usamos cuando queremos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decir explícitamente: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"aquí no hay nada".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578608"/>
            <a:ext cx="246888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2633472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carrito = null;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carrito existe pero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está vacío a propósito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console.log(carrito); // null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4041648"/>
            <a:ext cx="2468880" cy="475488"/>
          </a:xfrm>
          <a:prstGeom prst="rect">
            <a:avLst/>
          </a:prstGeom>
          <a:solidFill>
            <a:srgbClr val="EEF0F8"/>
          </a:solidFill>
          <a:ln w="12700">
            <a:solidFill>
              <a:srgbClr val="C8C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40599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3A3A6A"/>
                </a:solidFill>
              </a:rPr>
              <a:t>typeof</a:t>
            </a:r>
            <a:r>
              <a:rPr lang="en-US" sz="1000" dirty="0">
                <a:solidFill>
                  <a:srgbClr val="3A3A6A"/>
                </a:solidFill>
              </a:rPr>
              <a:t> null → "object" (bug histórico de JS)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10128" y="123444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2344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Undefined — sin asignar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Es lo que tiene una variable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cuando la declaramos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pero no le damos valor.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0128" y="2578608"/>
            <a:ext cx="246888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64992" y="2633472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console.log(nombre); // undefined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También cuando buscas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algo que no existe: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4041648"/>
            <a:ext cx="2468880" cy="475488"/>
          </a:xfrm>
          <a:prstGeom prst="rect">
            <a:avLst/>
          </a:prstGeom>
          <a:solidFill>
            <a:srgbClr val="EEF0F8"/>
          </a:solidFill>
          <a:ln w="12700">
            <a:solidFill>
              <a:srgbClr val="C8C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55848" y="40599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3A3A6A"/>
                </a:solidFill>
              </a:rPr>
              <a:t>obj.propQueNoExiste</a:t>
            </a:r>
            <a:r>
              <a:rPr lang="en-US" sz="1000" dirty="0">
                <a:solidFill>
                  <a:srgbClr val="3A3A6A"/>
                </a:solidFill>
              </a:rPr>
              <a:t> → undefined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09728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90488" y="123444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90488" y="12344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0488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Symbol — ID único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Crea identificadores únicos.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Dos Symbols con el mismo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nombre NO son iguales.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2578608"/>
            <a:ext cx="246888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2633472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Symbol('id');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 = Symbol('id');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=== b; // → false 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Avanzado — no lo usaremos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mucho en este curso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0488" y="4041648"/>
            <a:ext cx="2468880" cy="475488"/>
          </a:xfrm>
          <a:prstGeom prst="rect">
            <a:avLst/>
          </a:prstGeom>
          <a:solidFill>
            <a:srgbClr val="EEF0F8"/>
          </a:solidFill>
          <a:ln w="12700">
            <a:solidFill>
              <a:srgbClr val="C8C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36208" y="40599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6A"/>
                </a:solidFill>
              </a:rPr>
              <a:t>Cada Symbol() es siempre único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Objects — colecciones de clave: valor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Pensá en una ficha con datos — cada dato tiene un nombre y un valor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97680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4088" y="12984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2984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estudiante = {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46504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"Ana García",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edad:    22,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276856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ciudad:  "Guayaquil",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activo:  true,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80720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Acceder a propiedades: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602736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estudiante.nombre;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867912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"Ana García"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13308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estudiante["edad"];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398264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22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Anatomía de un objeto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1664208"/>
            <a:ext cx="54864" cy="6400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1682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FD"/>
                </a:solidFill>
              </a:rPr>
              <a:t>Clave (key)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19385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8E0"/>
                </a:solidFill>
              </a:rPr>
              <a:t>nombre, edad, ciudad…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C8E0"/>
                </a:solidFill>
              </a:rPr>
              <a:t>Siempre es un string (sin comillas)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459736"/>
            <a:ext cx="54864" cy="64008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2478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E66D"/>
                </a:solidFill>
              </a:rPr>
              <a:t>Valor (value)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7340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8E0"/>
                </a:solidFill>
              </a:rPr>
              <a:t>Puede ser CUALQUIER tipo: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C8E0"/>
                </a:solidFill>
              </a:rPr>
              <a:t>string, number, boolean, array, otro objeto…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255264"/>
            <a:ext cx="54864" cy="64008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74920" y="32735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8754"/>
                </a:solidFill>
              </a:rPr>
              <a:t>Propiedad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8E0"/>
                </a:solidFill>
              </a:rPr>
              <a:t>El par clave + valor juntos.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C8E0"/>
                </a:solidFill>
              </a:rPr>
              <a:t>Un objeto tiene tantas propiedades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C8E0"/>
                </a:solidFill>
              </a:rPr>
              <a:t>como necesite.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4050792"/>
            <a:ext cx="54864" cy="64008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4069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Acceso con punto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43251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8E0"/>
                </a:solidFill>
              </a:rPr>
              <a:t>obj.clave  o  obj["clave"]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C8E0"/>
                </a:solidFill>
              </a:rPr>
              <a:t>Ambas formas funcionan igual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Modificar y recorrer objetos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527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8754"/>
                </a:solidFill>
              </a:rPr>
              <a:t>Agregar propiedad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600200"/>
            <a:ext cx="3977640" cy="117043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655064"/>
            <a:ext cx="38404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auto = { marca: "Toyota"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auto.color = "rojo";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auto.año  = 2022;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console.log(auto);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 marca:"Toyota", color:"rojo", año:2022 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206240" cy="640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2527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FD"/>
                </a:solidFill>
              </a:rPr>
              <a:t>Modificar propiedad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64608" y="1600200"/>
            <a:ext cx="3977640" cy="117043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1655064"/>
            <a:ext cx="38404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 nombre: "Ana"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user.nombre = "María";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console.log(user.nombre);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"María"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20624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127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</a:rPr>
              <a:t>Eliminar propiedad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" y="3474720"/>
            <a:ext cx="3977640" cy="117043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3529584"/>
            <a:ext cx="38404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 = { x: 1, y: 2, z: 3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p.z;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{ x: 1, y: 2 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20624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127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7E14"/>
                </a:solidFill>
              </a:rPr>
              <a:t>Verificar si existe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64608" y="3474720"/>
            <a:ext cx="3977640" cy="117043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3529584"/>
            <a:ext cx="38404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obj = { a: 1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 in obj; // →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 in obj; // → 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obj.hasOwnProperty("a"); // true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Arrays — listas ordenadas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Como una lista numerada — cada elemento tiene una posición (índice) que empieza en 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0D9"/>
                </a:solidFill>
              </a:rPr>
              <a:t>[0]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645920" cy="594360"/>
          </a:xfrm>
          <a:prstGeom prst="rect">
            <a:avLst/>
          </a:prstGeom>
          <a:solidFill>
            <a:srgbClr val="1E4080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"manzana"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0D9"/>
                </a:solidFill>
              </a:rPr>
              <a:t>[1]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600200"/>
            <a:ext cx="1645920" cy="5943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6002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0D9"/>
                </a:solidFill>
              </a:rPr>
              <a:t>[2]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1645920" cy="5943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0" y="16002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"naranja"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0D9"/>
                </a:solidFill>
              </a:rPr>
              <a:t>[3]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1645920" cy="5943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16002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"uva"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17320" y="2423160"/>
            <a:ext cx="0" cy="41148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frutas[0]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15000" y="2622178"/>
            <a:ext cx="1554480" cy="347472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15000" y="2606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¡OJO!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249873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El primer elemento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siempre es el índice 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no el 1.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841248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3375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frutas = ["manzana", "banana", "naranja", "uva"];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7033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frutas[0]      // → "manzana"    frutas[3]  // → "uva"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0690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frutas.length  // → 4            frutas[10] // → undefined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Métodos de Arrays — los más usados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128016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280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Agrega al final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" y="1965960"/>
            <a:ext cx="24688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202082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["manzana","banana"];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arr.push("kiwi");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10128" y="128016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280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Elimina el último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10128" y="1965960"/>
            <a:ext cx="24688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64992" y="202082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["manzana","banana"];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arr.pop();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114300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1143000"/>
            <a:ext cx="2697480" cy="640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90488" y="128016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90488" y="1280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unshift()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0488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Agrega al inicio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0488" y="1965960"/>
            <a:ext cx="24688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45352" y="202082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["manzana","banana"];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arr.unshift("fresa");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95351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2953512"/>
            <a:ext cx="269748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9768" y="3090672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9768" y="30906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" y="3456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Elimina el primero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9768" y="3776472"/>
            <a:ext cx="24688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" y="383133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["manzana","banana"];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arr.shift();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295351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0" y="2953512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10128" y="3090672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10128" y="30906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includes()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3456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¿Existe el elemento?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310128" y="3776472"/>
            <a:ext cx="24688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64992" y="383133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["manzana","banana"];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arr.includes("banana");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80760" y="295351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80760" y="2953512"/>
            <a:ext cx="2697480" cy="640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90488" y="3090672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90488" y="30906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indexOf()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90488" y="3456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Posición del elemento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90488" y="3776472"/>
            <a:ext cx="24688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45352" y="383133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["manzana","banana"];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arr.indexOf("naranja");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Operadores aritméticos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Con estos operadores hacemos cálculos, igual que en matemáticas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4356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" y="2039112"/>
            <a:ext cx="24688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20574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+ 3  →  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C0"/>
                </a:solidFill>
              </a:rPr>
              <a:t>"Ho" + "la" → "Hola" (concatena strings)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9748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548640" cy="5486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14356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10128" y="2039112"/>
            <a:ext cx="24688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4992" y="20574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10 - 4  →  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C0"/>
                </a:solidFill>
              </a:rPr>
              <a:t>También funciona con negativos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234440"/>
            <a:ext cx="269748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14356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Multiplicación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0488" y="2039112"/>
            <a:ext cx="24688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45352" y="20574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* 4  →  12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90488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C0"/>
                </a:solidFill>
              </a:rPr>
              <a:t>Es asterisco, no la 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63240"/>
            <a:ext cx="269748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2644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División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9768" y="3867912"/>
            <a:ext cx="24688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" y="38862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  →  3.75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9768" y="43068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C0"/>
                </a:solidFill>
              </a:rPr>
              <a:t>Siempre devuelve decimal si aplica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063240"/>
            <a:ext cx="269748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337560" y="3200400"/>
            <a:ext cx="548640" cy="5486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3756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977640" y="32644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Módulo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310128" y="3867912"/>
            <a:ext cx="24688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64992" y="38862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10 % 3  →  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10128" y="43068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C0"/>
                </a:solidFill>
              </a:rPr>
              <a:t>El RESTO de la división entera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0760" y="3063240"/>
            <a:ext cx="269748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17920" y="3200400"/>
            <a:ext cx="548640" cy="5486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179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58000" y="32644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Potencia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190488" y="3867912"/>
            <a:ext cx="24688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45352" y="38862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** 8  →  256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190488" y="43068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C0"/>
                </a:solidFill>
              </a:rPr>
              <a:t>ES6+. 2**8 = 2×2×2×2×2×2×2×2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Operadores de asignación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Son atajos para modificar una variable. En lugar de escribir x = x + 5 escribís x += 5.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914400" cy="36576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Operador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572768"/>
            <a:ext cx="1737360" cy="36576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15727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Qué hace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572768"/>
            <a:ext cx="2606040" cy="36576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5727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Forma larga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572768"/>
            <a:ext cx="2880360" cy="36576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89320" y="15727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Atajo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93392"/>
            <a:ext cx="8458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03911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03911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19933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Asignación simple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19933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89320" y="1993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377440"/>
            <a:ext cx="8458200" cy="365760"/>
          </a:xfrm>
          <a:prstGeom prst="rect">
            <a:avLst/>
          </a:prstGeom>
          <a:solidFill>
            <a:srgbClr val="F0EEE8"/>
          </a:solidFill>
          <a:ln w="635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4231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2377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Suma y asigna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+ 3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8932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761488"/>
            <a:ext cx="8458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2807208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80720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-=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27614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Resta y asigna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46120" y="27614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- 2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89320" y="2761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3145536"/>
            <a:ext cx="8458200" cy="365760"/>
          </a:xfrm>
          <a:prstGeom prst="rect">
            <a:avLst/>
          </a:prstGeom>
          <a:solidFill>
            <a:srgbClr val="F0EEE8"/>
          </a:solidFill>
          <a:ln w="635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3191256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1912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17320" y="314553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Multiplica y asigna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246120" y="31455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* 4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989320" y="31455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3529584"/>
            <a:ext cx="8458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3575304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357530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/=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417320" y="352958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Divide y asigna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246120" y="35295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/ 2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989320" y="35295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/= 2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65760" y="3913632"/>
            <a:ext cx="8458200" cy="365760"/>
          </a:xfrm>
          <a:prstGeom prst="rect">
            <a:avLst/>
          </a:prstGeom>
          <a:solidFill>
            <a:srgbClr val="F0EEE8"/>
          </a:solidFill>
          <a:ln w="635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7200" y="395935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395935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417320" y="39136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Incremento en 1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246120" y="3913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+ 1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989320" y="3913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x++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5760" y="4297680"/>
            <a:ext cx="8458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57200" y="4343400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7200" y="434340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417320" y="4297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Decremento en 1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24612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- 1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9893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x--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Operador ternario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Un if-else en una sola línea — muy usado en JavaScript moderno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65960" y="1339081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7440" y="1463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siEsTrue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04449" y="131673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06240" y="1463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siEsFalse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9B8FF"/>
                </a:solidFill>
              </a:rPr>
              <a:t>¿Es verdadero?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2677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FF78"/>
                </a:solidFill>
              </a:rPr>
              <a:t>valor si sí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22677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8080"/>
                </a:solidFill>
              </a:rPr>
              <a:t>valor si 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206240" cy="320040"/>
          </a:xfrm>
          <a:prstGeom prst="rect">
            <a:avLst/>
          </a:prstGeom>
          <a:solidFill>
            <a:srgbClr val="1E4080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Ejemplo</a:t>
            </a:r>
            <a:r>
              <a:rPr lang="en-US" sz="1200" b="1" dirty="0">
                <a:solidFill>
                  <a:srgbClr val="FFFFFF"/>
                </a:solidFill>
              </a:rPr>
              <a:t> básico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4206240" cy="1600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99232"/>
            <a:ext cx="40233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20;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mensaje = edad &gt;= 18 ? "Mayor de edad" : "Menor de edad";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console.log(mensaje); // → "Mayor de edad"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606040"/>
            <a:ext cx="4206240" cy="320040"/>
          </a:xfrm>
          <a:prstGeom prst="rect">
            <a:avLst/>
          </a:prstGeom>
          <a:solidFill>
            <a:srgbClr val="2A1A1A"/>
          </a:solidFill>
          <a:ln w="12700">
            <a:solidFill>
              <a:srgbClr val="5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Vs. if-else equivalente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206240" cy="1600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999232"/>
            <a:ext cx="40233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mensaje;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(edad &gt;= 18)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mensaje = "Mayor de edad";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mensaje = "Menor de edad";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Ejercicio integrador — Ficha de un estudiante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937760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4088" y="120700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20700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35331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Creá tu ficha de estudiante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60020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estudiante = {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84708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"TuNombre",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2093976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edad: 0, // cambiá por tu edad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34086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ciudad: "TuCiudad",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58775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materias: ["JS", "HTML", "CSS"],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283464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activo: true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308152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3328416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332085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Mostrá tu nombre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52501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console.log(estudiante.nombre);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406908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374649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¿Es mayor de 18?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325" y="395935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acceso = estudiante.edad &gt;= 18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13308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"Acceso total" : "Acceso limitado";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349247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console.log(acceso);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77840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6D"/>
                </a:solidFill>
              </a:rPr>
              <a:t>¿Qué hacer?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77840" y="1600200"/>
            <a:ext cx="320040" cy="3200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784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6184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Copiá el código en la consola y ejecútalo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577840" y="2286000"/>
            <a:ext cx="320040" cy="3200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78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23042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Agregá una propiedad 'apellido' a tu objeto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577840" y="2971800"/>
            <a:ext cx="320040" cy="3200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7784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29900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Mostrá la segunda materia del array (índice 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577840" y="3657600"/>
            <a:ext cx="320040" cy="3200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7784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89320" y="36758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Usá push() para agregar una materia nueva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577840" y="4343400"/>
            <a:ext cx="320040" cy="3200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7784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4238153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Calculá en qué año naciste con el operador -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4700016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Errores comunes de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Índice fuera de rango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5819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El array tiene 3 elementos (0,1,2).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Acceder al [3] no existe.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2011680"/>
            <a:ext cx="2468880" cy="658368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206654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arr = ["a","b","c"];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arr[3];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2706624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→ undefined (sin error, pero dato no existe)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3145536"/>
            <a:ext cx="2468880" cy="65836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320040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arr[arr.length - 1]; // último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"c"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012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Modificar const con objeto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15819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const protege la referencia,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no el contenido del objeto.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0128" y="2011680"/>
            <a:ext cx="2468880" cy="658368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64992" y="206654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 = { x: 1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{ x: 2 }; // ❌ Error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0128" y="2706624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27249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TypeError: Assignment to constant variable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10128" y="3145536"/>
            <a:ext cx="2468880" cy="65836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64992" y="320040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 = { x: 1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p.x = 2; // ✅ Esto SÍ funciona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9048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Concatenar número + string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15819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El + con strings concatena.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Resultado inesperado.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0488" y="2011680"/>
            <a:ext cx="2468880" cy="658368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45352" y="206654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20;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console.log("Edad: " + edad + 1);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0488" y="2706624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27249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→ "Edad: 201"  (no "Edad: 21")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90488" y="3145536"/>
            <a:ext cx="2468880" cy="65836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45352" y="320040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console.log(`Edad: ${edad + 1}`);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"Edad: 21" 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Null (vacío intencional), Undefined (sin valor) y Symbol (ID único)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53896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538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5389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Objects: colecciones clave-valor, cómo crearlos y modificarlos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947672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47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4767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Arrays: listas ordenadas, índices desde 0, métodos push/pop/shift/unshift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441448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441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44144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Operadores aritméticos: +, -, *, /, %, **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935224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9352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93522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Operadores de asignación: +=, -=, *=, /=, ++, --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42900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429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4290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Operador ternario: condicion ? siTrue : siFalse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52160" y="822960"/>
            <a:ext cx="3063240" cy="3886200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52160" y="822960"/>
            <a:ext cx="306324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89320" y="89611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</a:rPr>
              <a:t>Tarea para casa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89320" y="133502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1.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91072" y="133502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 objeto 'mascota' con nombre, especie, edad y vacunada (boolean)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86537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2.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186537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 array de 5 películas favoritas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239572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3.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23957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Agregá una película con push() y eliminá la primera con shift()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2926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4.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91072" y="29260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Usá el ternario para saber si la mascota es mayor o menor a 5 años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345643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5.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91072" y="34564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Calculá la edad de tu mascota en años humanos (* 7) con *=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398678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6.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91072" y="398678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Subí todo a clase-02 en GitHub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1677</Words>
  <Application>Microsoft Office PowerPoint</Application>
  <PresentationFormat>On-screen Show (16:9)</PresentationFormat>
  <Paragraphs>336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2 - Tipos, Objetos, Arreglos y Operadores</dc:title>
  <dc:subject>PptxGenJS Presentation</dc:subject>
  <dc:creator>PptxGenJS</dc:creator>
  <cp:lastModifiedBy>Javier Alejandro Gutierrez Macias</cp:lastModifiedBy>
  <cp:revision>3</cp:revision>
  <dcterms:created xsi:type="dcterms:W3CDTF">2026-03-28T23:02:12Z</dcterms:created>
  <dcterms:modified xsi:type="dcterms:W3CDTF">2026-03-29T01:29:07Z</dcterms:modified>
</cp:coreProperties>
</file>