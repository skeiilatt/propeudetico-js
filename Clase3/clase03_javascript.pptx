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49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42060"/>
          </a:solidFill>
          <a:ln w="12700">
            <a:solidFill>
              <a:srgbClr val="142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90D9"/>
                </a:solidFill>
              </a:rPr>
              <a:t>CLASE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5943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Operadores de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Comparación y Lógicos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06324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Prof. Javier Gutiérrez  ·  Coding Bootcamps ESPOL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Módulo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9456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Mié 15 abr 2026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3520440"/>
            <a:ext cx="1600200" cy="320040"/>
          </a:xfrm>
          <a:prstGeom prst="roundRect">
            <a:avLst>
              <a:gd name="adj" fmla="val 22857"/>
            </a:avLst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31920" y="35204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19h30 – 21h30</a:t>
            </a:r>
            <a:endParaRPr lang="en-US" sz="10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12280" y="1600200"/>
            <a:ext cx="1965960" cy="19659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82880" y="4773168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AB0"/>
                </a:solidFill>
              </a:rPr>
              <a:t>Coding Bootcamps ESPOL  ·  Curso Inicial de JavaScript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Agenda del día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188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Repaso rápido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46304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Quiz sobre objetos, arrays y operadores de la clase 2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65760" y="196596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2024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Operadores de comparación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1945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==, ===, !=, !==, &gt;, &lt;, &gt;=, &lt;=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57860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269748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05840" y="26517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== vs === — la diferencia clave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92608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Coerción de tipos y por qué siempre usar ===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331012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42900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38328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Operadores lógicos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365760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&amp;&amp; (AND), || (OR), ! (NOT)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8412480" cy="0"/>
          </a:xfrm>
          <a:prstGeom prst="line">
            <a:avLst/>
          </a:prstGeom>
          <a:noFill/>
          <a:ln w="6350">
            <a:solidFill>
              <a:srgbClr val="D5D0C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57200" cy="457200"/>
          </a:xfrm>
          <a:prstGeom prst="ellipse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Ejercicio integrador del Módulo 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438912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Combinamos todo lo aprendido en las 3 clases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Repaso — ¿qué devuelve esto?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Escribilo en la consola antes de ver la respuesta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75488" y="1508760"/>
            <a:ext cx="397764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a={x:1};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331720"/>
            <a:ext cx="3977640" cy="530352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30352" y="2377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undefined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1417320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56048" y="1508760"/>
            <a:ext cx="397764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10912" y="15544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f=["a","b","c"];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f[f.length-1]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56048" y="2331720"/>
            <a:ext cx="3977640" cy="530352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10912" y="23774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"c"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200400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" y="3291840"/>
            <a:ext cx="397764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0352" y="3337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n=10;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n+=5;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n*=2;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" y="4114800"/>
            <a:ext cx="3977640" cy="530352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0352" y="41605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30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3200400"/>
            <a:ext cx="4206240" cy="1664208"/>
          </a:xfrm>
          <a:prstGeom prst="rect">
            <a:avLst/>
          </a:prstGeom>
          <a:solidFill>
            <a:srgbClr val="1A2E72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56048" y="3291840"/>
            <a:ext cx="3977640" cy="74980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10912" y="33375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5&gt;3 ? "mayor" : "menor"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56048" y="4114800"/>
            <a:ext cx="3977640" cy="530352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10912" y="416052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 "mayor"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Operadores de comparación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Comparan dos valores y siempre devuelven true o false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630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29768" y="157276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61288" y="15727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Igual (valor)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63240" y="1536192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155448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'5'  →  true  ⚠️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463040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64608" y="157276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64608" y="15727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96128" y="157276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Igual estricto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98080" y="1536192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43800" y="155448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'5'  →  false ✅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4942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9768" y="23591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9768" y="2359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61288" y="2359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Diferente (valor)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063240" y="2322576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108960" y="2340864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'6'  →  true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249424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64608" y="23591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64608" y="2359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!==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596128" y="235915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Diferente estricto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2322576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543800" y="2340864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!== '5'  →  true  ✅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03580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29768" y="314553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29768" y="314553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61288" y="314553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Mayor que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063240" y="3108960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108960" y="3127248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&gt; 5  →  true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54880" y="3035808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864608" y="314553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864608" y="314553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596128" y="314553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Menor que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498080" y="3108960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543800" y="3127248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 1  →  false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2219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9768" y="393192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9768" y="393192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161288" y="39319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Mayor o igual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063240" y="3895344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108960" y="3913632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  →  true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54880" y="3822192"/>
            <a:ext cx="4206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864608" y="393192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864608" y="393192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596128" y="39319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6D"/>
                </a:solidFill>
              </a:rPr>
              <a:t>Menor o igual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498080" y="3895344"/>
            <a:ext cx="1344168" cy="5669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43800" y="3913632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&lt;= 3  →  false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== vs === — la diferencia más importante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Con == JavaScript convierte los tipos antes de comparar (coerción). Con === NO convierte nada.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291840"/>
          </a:xfrm>
          <a:prstGeom prst="rect">
            <a:avLst/>
          </a:prstGeom>
          <a:solidFill>
            <a:srgbClr val="2A1A0A"/>
          </a:solidFill>
          <a:ln w="12700">
            <a:solidFill>
              <a:srgbClr val="8A4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3931920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D7E14"/>
                </a:solidFill>
              </a:rPr>
              <a:t>== Doble igual (EVITAR)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C080"/>
                </a:solidFill>
              </a:rPr>
              <a:t>Convierte tipos → resultados sorprendentes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3D3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22860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'5'     // → true  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66928" y="276148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== false   // → true  😱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66928" y="323697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== false  // → true  😱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371246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99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 == undefined // → true 😱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3931920" cy="3291840"/>
          </a:xfrm>
          <a:prstGeom prst="rect">
            <a:avLst/>
          </a:prstGeom>
          <a:solidFill>
            <a:srgbClr val="0A2E1A"/>
          </a:solidFill>
          <a:ln w="12700">
            <a:solidFill>
              <a:srgbClr val="1A8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417320"/>
            <a:ext cx="393192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14813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FF78"/>
                </a:solidFill>
              </a:rPr>
              <a:t>=== Triple igual (USAR SIEMPRE)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83480" y="18745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D8A0"/>
                </a:solidFill>
              </a:rPr>
              <a:t>Compara valor Y tipo → predecible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2212848"/>
            <a:ext cx="3657600" cy="214884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7488" y="22860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'5'     // → false ✅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47488" y="2761488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=== false   // → false ✅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047488" y="3236976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=== false  // → false ✅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3712464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=== 5       // → true  ✅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Operadores lógicos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Combinan condiciones — el resultado siempre es true o false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697480" cy="64008"/>
          </a:xfrm>
          <a:prstGeom prst="rect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29768" y="1536192"/>
            <a:ext cx="530352" cy="530352"/>
          </a:xfrm>
          <a:prstGeom prst="ellipse">
            <a:avLst/>
          </a:prstGeom>
          <a:solidFill>
            <a:srgbClr val="1E4080"/>
          </a:solidFill>
          <a:ln w="12700">
            <a:solidFill>
              <a:srgbClr val="1E40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9768" y="1536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AND — 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Devuelve true SOLO si AMBAS condiciones son verdaderas.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Si una es false, el resultado es false.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" y="2679192"/>
            <a:ext cx="2468880" cy="1005840"/>
          </a:xfrm>
          <a:prstGeom prst="rect">
            <a:avLst/>
          </a:prstGeom>
          <a:solidFill>
            <a:srgbClr val="F0EEE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" y="27157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true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7157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 ✅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" y="29443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&amp;&amp; false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920240" y="29443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false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4632" y="31729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&amp;&amp; true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920240" y="31729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false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" y="34015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&amp;&amp; false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20240" y="34015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false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9768" y="3730752"/>
            <a:ext cx="246888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" y="37673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edad=20; let dni=true;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if(edad&gt;=18 &amp;&amp; dni){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console.log('Puede votar');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0" y="1417320"/>
            <a:ext cx="269748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310128" y="1536192"/>
            <a:ext cx="530352" cy="530352"/>
          </a:xfrm>
          <a:prstGeom prst="ellipse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10128" y="1536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93192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OR — 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10128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Devuelve true si AL MENOS UNA condición es verdadera.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Solo false si AMBAS son false.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310128" y="2679192"/>
            <a:ext cx="2468880" cy="1005840"/>
          </a:xfrm>
          <a:prstGeom prst="rect">
            <a:avLst/>
          </a:prstGeom>
          <a:solidFill>
            <a:srgbClr val="F0EEE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364992" y="27157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|| true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27157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364992" y="29443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 || false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00600" y="29443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 ✅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64992" y="31729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|| true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00600" y="31729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 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364992" y="34015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 || false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34015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false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0128" y="3730752"/>
            <a:ext cx="246888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364992" y="37673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dia='sabado';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if(dia==='sabado'||dia==='domingo'){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console.log('Es fin de semana');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1417320"/>
            <a:ext cx="269748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080760" y="141732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90488" y="1536192"/>
            <a:ext cx="530352" cy="530352"/>
          </a:xfrm>
          <a:prstGeom prst="ellipse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90488" y="153619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12280" y="15727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6D"/>
                </a:solidFill>
              </a:rPr>
              <a:t>NOT — NO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190488" y="21305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Invierte el valor booleano.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4A4A6A"/>
                </a:solidFill>
              </a:rPr>
              <a:t>true se vuelve false y false se vuelve true.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0488" y="2679192"/>
            <a:ext cx="2468880" cy="1005840"/>
          </a:xfrm>
          <a:prstGeom prst="rect">
            <a:avLst/>
          </a:prstGeom>
          <a:solidFill>
            <a:srgbClr val="F0EEE8"/>
          </a:solidFill>
          <a:ln w="12700">
            <a:solidFill>
              <a:srgbClr val="DDD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245352" y="27157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!true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680960" y="27157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false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45352" y="29443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!false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680960" y="29443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987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 ✅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45352" y="31729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7680960" y="31729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245352" y="3401568"/>
            <a:ext cx="1417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!''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680960" y="3401568"/>
            <a:ext cx="9144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35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90488" y="3730752"/>
            <a:ext cx="2468880" cy="822960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45352" y="3767328"/>
            <a:ext cx="233172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logueado=false;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if(!logueado){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console.log('Inicia sesión');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B6D"/>
          </a:solidFill>
          <a:ln w="12700">
            <a:solidFill>
              <a:srgbClr val="1A2B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Truthy y Falsy — valores que actúan como booleanos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0AECB"/>
                </a:solidFill>
              </a:rPr>
              <a:t>En JavaScript, cualquier valor puede usarse como condición. No solo true/false.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89888"/>
            <a:ext cx="3931920" cy="3337560"/>
          </a:xfrm>
          <a:prstGeom prst="rect">
            <a:avLst/>
          </a:prstGeom>
          <a:solidFill>
            <a:srgbClr val="2A1010"/>
          </a:solidFill>
          <a:ln w="12700">
            <a:solidFill>
              <a:srgbClr val="6A2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389888"/>
            <a:ext cx="393192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090"/>
                </a:solidFill>
              </a:rPr>
              <a:t>Valores FALSY (se comportan como false)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65376"/>
            <a:ext cx="365760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3D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19202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224028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256032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 (string vacío)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288036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6928" y="320040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520440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4023360"/>
            <a:ext cx="3657600" cy="566928"/>
          </a:xfrm>
          <a:prstGeom prst="rect">
            <a:avLst/>
          </a:prstGeom>
          <a:solidFill>
            <a:srgbClr val="1A0A0A"/>
          </a:solidFill>
          <a:ln w="12700">
            <a:solidFill>
              <a:srgbClr val="5D2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40599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if(0){ } // NO entra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9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if(""){ } // NO entra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46320" y="1389888"/>
            <a:ext cx="3931920" cy="3337560"/>
          </a:xfrm>
          <a:prstGeom prst="rect">
            <a:avLst/>
          </a:prstGeom>
          <a:solidFill>
            <a:srgbClr val="0A2E1A"/>
          </a:solidFill>
          <a:ln w="12700">
            <a:solidFill>
              <a:srgbClr val="1A6A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389888"/>
            <a:ext cx="3931920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</a:rPr>
              <a:t>Valores TRUTHY (se comportan como true)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983480" y="1865376"/>
            <a:ext cx="3657600" cy="2103120"/>
          </a:xfrm>
          <a:prstGeom prst="rect">
            <a:avLst/>
          </a:prstGeom>
          <a:solidFill>
            <a:srgbClr val="1E1E2E"/>
          </a:solidFill>
          <a:ln w="12700">
            <a:solidFill>
              <a:srgbClr val="2D3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47488" y="19202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7488" y="231343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Cualquier número ≠ 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47488" y="270662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Cualquier string no vacío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47488" y="309981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 (array vacío)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47488" y="34930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  (objeto vacío)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983480" y="4023360"/>
            <a:ext cx="3657600" cy="566928"/>
          </a:xfrm>
          <a:prstGeom prst="rect">
            <a:avLst/>
          </a:prstGeom>
          <a:solidFill>
            <a:srgbClr val="0A1A0A"/>
          </a:solidFill>
          <a:ln w="12700">
            <a:solidFill>
              <a:srgbClr val="1A5A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47488" y="4059936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if(1){ } // SÍ entra 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if("hola"){ } // SÍ entra ✅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— combinando comparación y lógica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Escribí en la consola y predecí el resultado ANTES de ejecutar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5029200" cy="3310128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19072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edad = 17;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tienePermiso = true;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¿Puede entrar al concierto?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puedeEntrar = edad &gt;= 18 || tienePermiso;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console.log(puedeEntrar); // → 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¿Es adolescente?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esAdolescente = edad &gt;= 13 &amp;&amp; edad &lt; 18;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console.log(esAdolescente); // → 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¿No puede conducir?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noPuedeConducir = !(edad &gt;= 18);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console.log(noPuedeConducir); // → ?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¿Qué pasa si edad = 20?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Cambiá el valor y volvé a ejecutar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Resultados esperados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874520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60720" y="194767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760720" y="194767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puedeEntrar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68312" y="19476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760720" y="2276856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17 NO ≥ 18 pero tienePermiso es true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→ OR con true siempre da true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2880360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760720" y="295351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760720" y="295351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esAdolescente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68312" y="2953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3282696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17 ≥ 13  ✅  Y  17 &lt; 18 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→ AND necesita que ambas sean true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3886200"/>
            <a:ext cx="32004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760720" y="3959352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60720" y="39593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noPuedeConducir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68312" y="39593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true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760720" y="4288536"/>
            <a:ext cx="2999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edad &gt;= 18 es false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6A"/>
                </a:solidFill>
              </a:rPr>
              <a:t>→ ! invierte → true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Errores comunes — Operadores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== en lugar de ===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== hace coerción de tipos.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Resultados imposibles de predecir.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(0 == false) {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esto entra! 😱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976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0 == false → true (coerción)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(0 === false)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no entra ✅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 // Usa siempre ===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976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1012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Confundir = con ===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1012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= asigna valor.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=== compara.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En condiciones necesitás ===.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1012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36499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 10) { // asigna!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012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3756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Asigna 10 a x, siempre entra al if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31012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6499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=== 10)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console.log(x);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// no entra ✅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1012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080760" y="1097280"/>
            <a:ext cx="26974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8CF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080760" y="1097280"/>
            <a:ext cx="2697480" cy="64008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190488" y="117043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3545"/>
                </a:solidFill>
              </a:rPr>
              <a:t>❌ AND cuando necesitás OR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0488" y="15727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Confundir &amp;&amp; con ||.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AND necesita AMBAS verdaderas.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4A6A"/>
                </a:solidFill>
              </a:rPr>
              <a:t>OR necesita solo UNA.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90488" y="2029968"/>
            <a:ext cx="2468880" cy="731520"/>
          </a:xfrm>
          <a:prstGeom prst="rect">
            <a:avLst/>
          </a:prstGeom>
          <a:solidFill>
            <a:srgbClr val="3D1010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245352" y="2075688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d="lunes";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¿Es fin de semana?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if(d==="sab"&amp;&amp;d==="dom"){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nunca entra!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80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90488" y="2807208"/>
            <a:ext cx="2468880" cy="384048"/>
          </a:xfrm>
          <a:prstGeom prst="rect">
            <a:avLst/>
          </a:prstGeom>
          <a:solidFill>
            <a:srgbClr val="2A0A0A"/>
          </a:solidFill>
          <a:ln w="12700">
            <a:solidFill>
              <a:srgbClr val="5D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217920" y="28254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Un string no puede ser dos cosas a la vez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90488" y="3236976"/>
            <a:ext cx="2468880" cy="749808"/>
          </a:xfrm>
          <a:prstGeom prst="rect">
            <a:avLst/>
          </a:prstGeom>
          <a:solidFill>
            <a:srgbClr val="0A2E1A"/>
          </a:solidFill>
          <a:ln w="12700">
            <a:solidFill>
              <a:srgbClr val="1A5A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245352" y="3282696"/>
            <a:ext cx="2331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if(d==="sabado"||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d==="domingo"){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console.log("FDS");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90488" y="40233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98754"/>
                </a:solidFill>
              </a:rPr>
              <a:t>✅ Correcto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8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Ejercicio Integrador — Módulo 1 completo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6A"/>
                </a:solidFill>
              </a:rPr>
              <a:t>Juntamos TODO lo del módulo: variables, tipos, objetos, arrays y operadores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17319"/>
            <a:ext cx="5029200" cy="3657297"/>
          </a:xfrm>
          <a:prstGeom prst="rect">
            <a:avLst/>
          </a:prstGeom>
          <a:solidFill>
            <a:srgbClr val="1E1E2E"/>
          </a:solidFill>
          <a:ln w="12700">
            <a:solidFill>
              <a:srgbClr val="2D2D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02920" y="1527048"/>
            <a:ext cx="109728" cy="109728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04088" y="1527048"/>
            <a:ext cx="109728" cy="109728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05256" y="1527048"/>
            <a:ext cx="109728" cy="109728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613658"/>
            <a:ext cx="4654296" cy="457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alumno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nombre: "TuNombre",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edad: 0,          // pon tu edad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notas: [7, 8, 9, 6, 10],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aprobado: null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Calculá el promedio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suma = alumno.notas[0] + alumno.notas[1]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alumno.notas[2] + alumno.notas[3]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+ alumno.notas[4];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promedio = suma / alumno.notas.length;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¿Aprobó? (nota mínima 7)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alumno.aprobado = promedio &gt;= 7;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¿Es mayor de edad Y aprobó?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feliz = alumno.edad &gt;= 18 &amp;&amp; alumno.aprobado;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console.log("Promedio:", promedio);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console.log("Aprobado:", alumno.aprobado);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E6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console.log("Feliz:", feliz);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6D"/>
                </a:solidFill>
              </a:rPr>
              <a:t>¿Qué desafíos podés agregar?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0" y="1901952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0" y="19019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81051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Agregá una 6ta nota con push()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0" y="2496312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0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391368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Recalculá el promedio con la nueva nota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0" y="3090672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3090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35040" y="2989906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Usá el ternario para el mensaje: 'Aprobado' o 'Reprobado'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0" y="3685032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3685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035040" y="3616452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Verificá si TODAS las notas son mayores a 5 con una condición &amp;&amp;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4279392"/>
            <a:ext cx="292608" cy="292608"/>
          </a:xfrm>
          <a:prstGeom prst="ellipse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4279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35040" y="4097844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6A"/>
                </a:solidFill>
              </a:rPr>
              <a:t>¿Qué pasa si cambiás una nota a -1?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B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Resumen 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91440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91440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Operadores de comparación: ==, ===, !=, !==, &gt;, &lt;, &gt;=, &lt;=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08176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081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40817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Siempre usar === (triple igual) para comparar, nunca ==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1480" y="1901952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90195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AND (&amp;&amp;): verdadero solo si AMBAS condiciones son true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39572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OR (||): verdadero si AL MENOS UNA condición es true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" y="2889504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288950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88950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NOT (!): invierte el valor booleano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11480" y="3383280"/>
            <a:ext cx="256032" cy="256032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33832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38328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0D8F0"/>
                </a:solidFill>
              </a:rPr>
              <a:t>Truthy y Falsy: cualquier valor puede usarse como condición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52160" y="777240"/>
            <a:ext cx="3063240" cy="4023360"/>
          </a:xfrm>
          <a:prstGeom prst="rect">
            <a:avLst/>
          </a:prstGeom>
          <a:solidFill>
            <a:srgbClr val="111C4A"/>
          </a:solidFill>
          <a:ln w="12700">
            <a:solidFill>
              <a:srgbClr val="2A3E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852160" y="777240"/>
            <a:ext cx="3063240" cy="73152"/>
          </a:xfrm>
          <a:prstGeom prst="rect">
            <a:avLst/>
          </a:prstGeom>
          <a:solidFill>
            <a:srgbClr val="FFE66D"/>
          </a:solidFill>
          <a:ln w="12700">
            <a:solidFill>
              <a:srgbClr val="FFE66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989320" y="850392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E66D"/>
                </a:solidFill>
              </a:rPr>
              <a:t>Tarea para casa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89320" y="1298448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1.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12984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Completá el ejercicio integrador del alumno con tus propios datos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89320" y="1828800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2.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91072" y="182880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Probá 5 comparaciones con == y con === — ¿los resultados difieren?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2359152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3.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291072" y="2359152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Creá una condición con &amp;&amp;, otra con || y otra con !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89320" y="2889504"/>
            <a:ext cx="274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90D9"/>
                </a:solidFill>
              </a:rPr>
              <a:t>4.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291072" y="288950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F0"/>
                </a:solidFill>
              </a:rPr>
              <a:t>Subí todo a clase-03 en GitHub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11C4A"/>
          </a:solidFill>
          <a:ln w="12700">
            <a:solidFill>
              <a:srgbClr val="111C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/>
          <a:srcRect l="-20000" r="-20000"/>
          <a:stretch/>
        </p:blipFill>
        <p:spPr>
          <a:xfrm>
            <a:off x="8412480" y="4736592"/>
            <a:ext cx="64008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1452</Words>
  <Application>Microsoft Office PowerPoint</Application>
  <PresentationFormat>On-screen Show (16:9)</PresentationFormat>
  <Paragraphs>289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3 - Operadores de Comparación y Lógicos</dc:title>
  <dc:subject>PptxGenJS Presentation</dc:subject>
  <dc:creator>PptxGenJS</dc:creator>
  <cp:lastModifiedBy>Javier Alejandro Gutierrez Macias</cp:lastModifiedBy>
  <cp:revision>2</cp:revision>
  <dcterms:created xsi:type="dcterms:W3CDTF">2026-03-28T23:10:30Z</dcterms:created>
  <dcterms:modified xsi:type="dcterms:W3CDTF">2026-03-29T01:33:06Z</dcterms:modified>
</cp:coreProperties>
</file>