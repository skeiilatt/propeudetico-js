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04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Scope, Hoisting,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Arrow Functions y Closures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Mié 29 abr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15" descr="Inicio - Coding Bootcamps ESPOL">
            <a:extLst>
              <a:ext uri="{FF2B5EF4-FFF2-40B4-BE49-F238E27FC236}">
                <a16:creationId xmlns:a16="http://schemas.microsoft.com/office/drawing/2014/main" id="{50922530-3DCE-C36B-1487-AE1509B12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73472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Scope — alcance de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¿Desde dónde puedo ver una variable?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Hoisting — elevación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Por qué JS 'mueve' las declaraciones al inicio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Funciones flecha (arrow functions)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La forma moderna y compacta de escribir funciones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Closures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Funciones que recuerdan su entorno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Ejercicios y errores comunes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Casos reales donde aparecen estos conceptos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 descr="Inicio - Coding Bootcamps ESPOL">
            <a:extLst>
              <a:ext uri="{FF2B5EF4-FFF2-40B4-BE49-F238E27FC236}">
                <a16:creationId xmlns:a16="http://schemas.microsoft.com/office/drawing/2014/main" id="{96478B10-31B8-CA6F-B5DF-1337ED72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827" y="15233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Scope — ¿dónde vive una variable?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El scope define desde qué partes del código podés acceder a una variable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37560"/>
          </a:xfrm>
          <a:prstGeom prst="rect">
            <a:avLst/>
          </a:prstGeom>
          <a:solidFill>
            <a:srgbClr val="E8EBF5"/>
          </a:solidFill>
          <a:ln w="1905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508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Scope Global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ciudad = 'Guayaquil';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4434840" cy="2331720"/>
          </a:xfrm>
          <a:prstGeom prst="rect">
            <a:avLst/>
          </a:prstGeom>
          <a:solidFill>
            <a:srgbClr val="D0D8F0"/>
          </a:solidFill>
          <a:ln w="15240">
            <a:solidFill>
              <a:srgbClr val="3A5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304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6D"/>
                </a:solidFill>
              </a:rPr>
              <a:t>Scope de función: saludar()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15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'Ana';  // solo dentro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944368"/>
            <a:ext cx="3931920" cy="1389888"/>
          </a:xfrm>
          <a:prstGeom prst="rect">
            <a:avLst/>
          </a:prstGeom>
          <a:solidFill>
            <a:srgbClr val="B8C8F0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C4A"/>
                </a:solidFill>
              </a:rPr>
              <a:t>Scope de bloque: if { 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3337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temp = 'solo aquí';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36393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 ✅  nombre ✅  temp 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23544" y="4315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 ✅  nombre ✅  temp 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526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ciudad ✅  nombre ❌  temp 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32004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9008" y="15087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La regla del scope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79008" y="1938528"/>
            <a:ext cx="54864" cy="56692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1965960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Podés acceder a variables del scope externo (arriba)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79008" y="2670048"/>
            <a:ext cx="54864" cy="56692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2697480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NO podés acceder a variables del scope interno (adentro de una función)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9008" y="3401568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97880" y="3429000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let y const tienen scope de bloque { }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79008" y="4133088"/>
            <a:ext cx="54864" cy="56692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97880" y="4160520"/>
            <a:ext cx="2852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var tiene scope de función — puede escapar de bloques if/for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29" name="Picture 28" descr="Inicio - Coding Bootcamps ESPOL">
            <a:extLst>
              <a:ext uri="{FF2B5EF4-FFF2-40B4-BE49-F238E27FC236}">
                <a16:creationId xmlns:a16="http://schemas.microsoft.com/office/drawing/2014/main" id="{8C600EB1-29BA-850D-BE48-77F986BE9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827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Hoisting — JavaScript mueve las declaraciones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Antes de ejecutar el código, JS 'eleva' las declaraciones al inicio del scope. El valor no sube, solo la declaración.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35204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function — sube COMPLETA 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874520"/>
            <a:ext cx="246888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938528"/>
            <a:ext cx="23317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Podés llamarla ANTES de definirla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console.log(sumar(2, 3)); // → 5 ✅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4251960"/>
            <a:ext cx="2468880" cy="475488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42702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0F0"/>
                </a:solidFill>
              </a:rPr>
              <a:t>💡 JS eleva toda la función declarada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697480" cy="35204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7E14"/>
                </a:solidFill>
              </a:rPr>
              <a:t>var — sube la declaración ⚠️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1874520"/>
            <a:ext cx="246888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1938528"/>
            <a:ext cx="23317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→ undefined (no da error)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x = 10;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→ 10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 lo interpreta como: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 x;          ← sube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console.log(x); ← undefined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 10;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4251960"/>
            <a:ext cx="2468880" cy="475488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55848" y="42702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0F0"/>
                </a:solidFill>
              </a:rPr>
              <a:t>💡 var se declara pero sin valor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389888"/>
            <a:ext cx="2697480" cy="352044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1389888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90488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</a:rPr>
              <a:t>let / const — NO suben 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1874520"/>
            <a:ext cx="246888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45352" y="1938528"/>
            <a:ext cx="23317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console.log(nombre); // ❌ ReferenceError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Están en la "Temporal Dead Zone"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TDZ: declarada pero no inicializada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88" y="4251960"/>
            <a:ext cx="2468880" cy="475488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42702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0F0"/>
                </a:solidFill>
              </a:rPr>
              <a:t>💡 Zona Muerta Temporal (TDZ)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28" name="Picture 27" descr="Inicio - Coding Bootcamps ESPOL">
            <a:extLst>
              <a:ext uri="{FF2B5EF4-FFF2-40B4-BE49-F238E27FC236}">
                <a16:creationId xmlns:a16="http://schemas.microsoft.com/office/drawing/2014/main" id="{2509D85C-06DB-C1DF-F185-C83CD5A4E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211766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Funciones flecha — Arrow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Una sintaxis más corta y moderna para escribir funciones. ES6+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Evolución de la sintaxis — todas hacen lo mismo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Función declarada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938528"/>
            <a:ext cx="608076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33472" y="19659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sumar(a, b) { return a + b;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Expresión de función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441448"/>
            <a:ext cx="608076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33472" y="2468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sumar = function(a, b) { return a + b; };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Arrow function completa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944368"/>
            <a:ext cx="608076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29718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sumar = (a, b) =&gt; { return a + b; };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Arrow — return implícito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3447288"/>
            <a:ext cx="6080760" cy="34747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33472" y="34747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sumar = (a, b) =&gt; a + b;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26974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Un solo parámetro → sin paréntesis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590288"/>
            <a:ext cx="2697480" cy="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4224528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4224528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</a:rPr>
              <a:t>Sin parámetros → paréntesis vacíos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4590288"/>
            <a:ext cx="2697480" cy="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0760" y="4224528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0760" y="4224528"/>
            <a:ext cx="269748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42793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7E14"/>
                </a:solidFill>
              </a:rPr>
              <a:t>Retornar objeto → entre paréntesis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4590288"/>
            <a:ext cx="2697480" cy="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37" name="Picture 36" descr="Inicio - Coding Bootcamps ESPOL">
            <a:extLst>
              <a:ext uri="{FF2B5EF4-FFF2-40B4-BE49-F238E27FC236}">
                <a16:creationId xmlns:a16="http://schemas.microsoft.com/office/drawing/2014/main" id="{C7814AB6-069B-79A3-800E-14C81CB6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47" y="170133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Arrow functions — casos especiales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35204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1338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1338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Un parámetro — sin paréntesis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 = n =&gt; n *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console.log(doble(7)); // → 14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Sin parámetros — paréntesis vacíos obligatorios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obtenerFecha = () =&gt; new Date().getFullYear();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console.log(obtenerFecha()); // → 2026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Cuerpo multilínea — necesitás llaves Y return explícito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calcularPrecio = (precio, impuesto)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total = precio + (precio * impuesto);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total.toFixed(2); // redondea a 2 decimales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console.log(calcularPrecio(100, 0.12)); // → "112.00"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Retornar objeto — entre paréntesis para no confundir con bloque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crearProducto = (nombre, precio) =&gt; ({ nombre, precio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console.log(crearProducto("Laptop", 800)); // → {nombre:"Laptop", precio:800}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Muy usadas con map/filter (módulo 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[1,2,3,4,5];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dobles = nums.map(n =&gt; n * 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console.log(dobles); // → [2,4,6,8,10]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553712"/>
            <a:ext cx="8412480" cy="158324"/>
          </a:xfrm>
          <a:prstGeom prst="rect">
            <a:avLst/>
          </a:prstGeom>
          <a:solidFill>
            <a:srgbClr val="EEF0F8"/>
          </a:solidFill>
          <a:ln w="1270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1587" y="4590288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6A"/>
                </a:solidFill>
              </a:rPr>
              <a:t>⚠️  Arrow functions NO tienen su propio this — importante en objetos y clases. Lo veremos en módulos avanzados.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 descr="Inicio - Coding Bootcamps ESPOL">
            <a:extLst>
              <a:ext uri="{FF2B5EF4-FFF2-40B4-BE49-F238E27FC236}">
                <a16:creationId xmlns:a16="http://schemas.microsoft.com/office/drawing/2014/main" id="{55A2A62B-11C1-8E8C-0B94-1F3FC2824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193478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Closures — funciones que recuerdan su entorno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Un closure es una función que recuerda las variables del scope donde fue creada, aunque ese scope ya no exista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846320" cy="33375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crearContador()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cuenta = 0; // variable privada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function() {  // ← función devuelta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cuenta++;          // recuerda 'cuenta'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cuenta;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contador = crearContador();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console.log(contador()); // →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console.log(contador()); // → 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console.log(contador()); // → 3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'cuenta' no es accesible desde afuera: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console.log(cuenta); // ❌ ReferenceError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llamada a crearContador() crea su propio contador: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c1 = crearContador();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c2 = crearContador();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c1(); c1(); c1(); // c1 va en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c2();             // c2 va en 1 — son independientes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40680" y="141732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50408" y="1508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¿Qué está pasando?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50408" y="1965960"/>
            <a:ext cx="347472" cy="347472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50408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86955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crearContador() crea 'cuenta' y devuelve una función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50408" y="2715768"/>
            <a:ext cx="347472" cy="34747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0408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2606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La función devuelta 'recuerda' donde está 'cuenta' aunque crearContador() ya terminó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0408" y="3465576"/>
            <a:ext cx="347472" cy="347472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50408" y="3465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3357059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Cada vez que llamamos a contador(), puede modificar 'cuenta' aunque esté 'afuera'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50408" y="42153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50408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411558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'cuenta' es privada — nadie más puede tocarla. Esto se llama encapsulamiento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 descr="Inicio - Coding Bootcamps ESPOL">
            <a:extLst>
              <a:ext uri="{FF2B5EF4-FFF2-40B4-BE49-F238E27FC236}">
                <a16:creationId xmlns:a16="http://schemas.microsoft.com/office/drawing/2014/main" id="{C2642787-8DC7-629A-C535-B0FFB6FF5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107" y="183364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Closure en la práctica — casos reales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" y="113385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05256" y="1133856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CASO 1: Crear funciones multiplicadoras personalizadas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multiplicador(factor)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 =&gt; n * factor; // closure sobre 'factor'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doble  = multiplicador(2);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triple = multiplicador(3);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console.log(doble(5));  // →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console.log(triple(5)); // → 15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CASO 2: Función con "memoria" — como un banco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crearCuenta(saldoInicial)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saldo = saldoInicial;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depositar: cantidad =&gt; { saldo += cantidad; return saldo;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retirar:   cantidad =&gt; { saldo -= cantidad; return saldo;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consultar: ()       =&gt; saldo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cuenta = crearCuenta(1000);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cuenta.depositar(500);  // → 1500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cuenta.retirar(200);    // → 1300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cuenta.consultar();     // → 1300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645152"/>
            <a:ext cx="8412480" cy="91440"/>
          </a:xfrm>
          <a:prstGeom prst="rect">
            <a:avLst/>
          </a:prstGeom>
          <a:solidFill>
            <a:srgbClr val="1E3060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7395" y="4475594"/>
            <a:ext cx="82296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0F0"/>
                </a:solidFill>
              </a:rPr>
              <a:t>💡  Los closures son la base de </a:t>
            </a:r>
            <a:r>
              <a:rPr lang="en-US" sz="1050" dirty="0" err="1">
                <a:solidFill>
                  <a:srgbClr val="A0C0F0"/>
                </a:solidFill>
              </a:rPr>
              <a:t>patrones</a:t>
            </a:r>
            <a:r>
              <a:rPr lang="en-US" sz="1050" dirty="0">
                <a:solidFill>
                  <a:srgbClr val="A0C0F0"/>
                </a:solidFill>
              </a:rPr>
              <a:t> </a:t>
            </a:r>
            <a:r>
              <a:rPr lang="en-US" sz="1050" dirty="0" err="1">
                <a:solidFill>
                  <a:srgbClr val="A0C0F0"/>
                </a:solidFill>
              </a:rPr>
              <a:t>importantes</a:t>
            </a:r>
            <a:r>
              <a:rPr lang="en-US" sz="1050" dirty="0">
                <a:solidFill>
                  <a:srgbClr val="A0C0F0"/>
                </a:solidFill>
              </a:rPr>
              <a:t>: </a:t>
            </a:r>
            <a:r>
              <a:rPr lang="en-US" sz="1050" dirty="0" err="1">
                <a:solidFill>
                  <a:srgbClr val="A0C0F0"/>
                </a:solidFill>
              </a:rPr>
              <a:t>módulos</a:t>
            </a:r>
            <a:r>
              <a:rPr lang="en-US" sz="1050" dirty="0">
                <a:solidFill>
                  <a:srgbClr val="A0C0F0"/>
                </a:solidFill>
              </a:rPr>
              <a:t>, </a:t>
            </a:r>
            <a:r>
              <a:rPr lang="en-US" sz="1050" dirty="0" err="1">
                <a:solidFill>
                  <a:srgbClr val="A0C0F0"/>
                </a:solidFill>
              </a:rPr>
              <a:t>funciones</a:t>
            </a:r>
            <a:r>
              <a:rPr lang="en-US" sz="1050" dirty="0">
                <a:solidFill>
                  <a:srgbClr val="A0C0F0"/>
                </a:solidFill>
              </a:rPr>
              <a:t> factory, React hooks. Son uno de </a:t>
            </a:r>
            <a:r>
              <a:rPr lang="en-US" sz="1050" dirty="0" err="1">
                <a:solidFill>
                  <a:srgbClr val="A0C0F0"/>
                </a:solidFill>
              </a:rPr>
              <a:t>los</a:t>
            </a:r>
            <a:r>
              <a:rPr lang="en-US" sz="1050" dirty="0">
                <a:solidFill>
                  <a:srgbClr val="A0C0F0"/>
                </a:solidFill>
              </a:rPr>
              <a:t> </a:t>
            </a:r>
            <a:r>
              <a:rPr lang="en-US" sz="1050" dirty="0" err="1">
                <a:solidFill>
                  <a:srgbClr val="A0C0F0"/>
                </a:solidFill>
              </a:rPr>
              <a:t>conceptos</a:t>
            </a:r>
            <a:r>
              <a:rPr lang="en-US" sz="1050" dirty="0">
                <a:solidFill>
                  <a:srgbClr val="A0C0F0"/>
                </a:solidFill>
              </a:rPr>
              <a:t> </a:t>
            </a:r>
            <a:r>
              <a:rPr lang="en-US" sz="1050" dirty="0" err="1">
                <a:solidFill>
                  <a:srgbClr val="A0C0F0"/>
                </a:solidFill>
              </a:rPr>
              <a:t>más</a:t>
            </a:r>
            <a:r>
              <a:rPr lang="en-US" sz="1050" dirty="0">
                <a:solidFill>
                  <a:srgbClr val="A0C0F0"/>
                </a:solidFill>
              </a:rPr>
              <a:t> </a:t>
            </a:r>
            <a:r>
              <a:rPr lang="en-US" sz="1050" dirty="0" err="1">
                <a:solidFill>
                  <a:srgbClr val="A0C0F0"/>
                </a:solidFill>
              </a:rPr>
              <a:t>poderosos</a:t>
            </a:r>
            <a:r>
              <a:rPr lang="en-US" sz="1050" dirty="0">
                <a:solidFill>
                  <a:srgbClr val="A0C0F0"/>
                </a:solidFill>
              </a:rPr>
              <a:t> de JS.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13" name="Picture 12" descr="Inicio - Coding Bootcamps ESPOL">
            <a:extLst>
              <a:ext uri="{FF2B5EF4-FFF2-40B4-BE49-F238E27FC236}">
                <a16:creationId xmlns:a16="http://schemas.microsoft.com/office/drawing/2014/main" id="{E3BC1DA6-3700-F0D3-6A2B-A134493C9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67" y="200139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Scope, Hoisting, Arrow, Closures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Variable no encontrada —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Intentar usar una variable de un scope interno desde uno externo.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resultado = 42;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console.log(resultado); // 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ReferenceError: resultado is not defined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42; // devuelve el valor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 = calcular();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console.log(r); // ✅ → 42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4013005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Confundir =&gt; con objeto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4950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Arrow function que devuelve un objeto necesita paréntesis alrededor de las llaves, sino JS las interpreta como bloque.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 cree que {} es un bloque vacío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crear = nombre =&gt; {nombre};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crear("Ana"); // → undefined 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undefined — {} fue bloque, no objeto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Paréntesis alrededor del objeto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crear = nombre =&gt; ({ nombre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crear("Ana"); // → { nombre: "Ana" } 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Hoisting con let — TDZ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let y const no tienen hoisting de valor. Están en la Temporal Dead Zone hasta su declaración.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console.log(nombre); //  Error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ReferenceError: Cannot access 'nombre' before initialization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 // declarar primero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console.log(nombre); // ✅ → "Ana"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Scope: las variables viven en el bloque donde se declararon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Hoisting: function sube completa, var sube sin valor, let/const no suben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Arrow function: (params) =&gt; expresión — return implícito si no hay llaves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Arrow sin parámetros: () =&gt; valor. Con uno: n =&gt; valor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Closure: función que recuerda el scope donde fue creada — permite datos privados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52160" y="777240"/>
            <a:ext cx="3063240" cy="2662357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</a:rPr>
              <a:t>Creá una función crearSaludador(idioma) que devuelva una arrow function que salude en ese idioma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 closure 'crearCarrito' con funciones agregar(), quitar() y total()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Reescribí 3 funciones de la clase 6 como arrow functions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clase-07 en GitHub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1563</Words>
  <Application>Microsoft Office PowerPoint</Application>
  <PresentationFormat>On-screen Show (16:9)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7 - Scope, Hoisting, Arrow Functions y Closures</dc:title>
  <dc:subject>PptxGenJS Presentation</dc:subject>
  <dc:creator>PptxGenJS</dc:creator>
  <cp:lastModifiedBy>Javier Alejandro Gutierrez Macias</cp:lastModifiedBy>
  <cp:revision>3</cp:revision>
  <dcterms:created xsi:type="dcterms:W3CDTF">2026-03-28T23:16:22Z</dcterms:created>
  <dcterms:modified xsi:type="dcterms:W3CDTF">2026-03-29T20:13:32Z</dcterms:modified>
</cp:coreProperties>
</file>