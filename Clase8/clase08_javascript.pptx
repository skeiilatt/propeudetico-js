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1636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42060"/>
          </a:solidFill>
          <a:ln w="12700">
            <a:solidFill>
              <a:srgbClr val="14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A90D9"/>
                </a:solidFill>
              </a:rPr>
              <a:t>CLASE 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Arreglos y sus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Métodos Funcionales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06324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B"/>
                </a:solidFill>
              </a:rPr>
              <a:t>Prof. Javier Gutiérrez  ·  Coding Bootcamps ESPOL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520440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Módulo 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94560" y="3520440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94560" y="35204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Vie 1 may 2026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31920" y="3520440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931920" y="35204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19h30 – 21h30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82880" y="477316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AB0"/>
                </a:solidFill>
              </a:rPr>
              <a:t>Coding Bootcamps ESPOL  ·  Curso Inicial de JavaScript  ·  2026</a:t>
            </a:r>
            <a:endParaRPr lang="en-US" sz="900" dirty="0"/>
          </a:p>
        </p:txBody>
      </p:sp>
      <p:pic>
        <p:nvPicPr>
          <p:cNvPr id="16" name="Picture 15" descr="Inicio - Coding Bootcamps ESPOL">
            <a:extLst>
              <a:ext uri="{FF2B5EF4-FFF2-40B4-BE49-F238E27FC236}">
                <a16:creationId xmlns:a16="http://schemas.microsoft.com/office/drawing/2014/main" id="{BE709D5B-4704-A362-2BBF-C6C49C44F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9553" y="2119395"/>
            <a:ext cx="1368573" cy="639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13815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Agenda del día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86968"/>
            <a:ext cx="457200" cy="457200"/>
          </a:xfrm>
          <a:prstGeom prst="ellipse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86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8412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Repaso — métodos básicos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11556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push, pop, shift, unshift, includes, indexOf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499616"/>
            <a:ext cx="8412480" cy="0"/>
          </a:xfrm>
          <a:prstGeom prst="line">
            <a:avLst/>
          </a:prstGeom>
          <a:noFill/>
          <a:ln w="6350">
            <a:solidFill>
              <a:srgbClr val="D5D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618488"/>
            <a:ext cx="457200" cy="457200"/>
          </a:xfrm>
          <a:prstGeom prst="ellipse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618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157276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forEach — recorrer sin retorno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184708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Ejecutar algo por cada elemento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231136"/>
            <a:ext cx="8412480" cy="0"/>
          </a:xfrm>
          <a:prstGeom prst="line">
            <a:avLst/>
          </a:prstGeom>
          <a:noFill/>
          <a:ln w="6350">
            <a:solidFill>
              <a:srgbClr val="D5D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350008"/>
            <a:ext cx="457200" cy="457200"/>
          </a:xfrm>
          <a:prstGeom prst="ellipse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350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" y="23042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map — transformar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25786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Crear un nuevo array transformando cada elemento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2962656"/>
            <a:ext cx="8412480" cy="0"/>
          </a:xfrm>
          <a:prstGeom prst="line">
            <a:avLst/>
          </a:prstGeom>
          <a:noFill/>
          <a:ln w="6350">
            <a:solidFill>
              <a:srgbClr val="D5D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3081528"/>
            <a:ext cx="457200" cy="457200"/>
          </a:xfrm>
          <a:prstGeom prst="ellipse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081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" y="30358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filter — filtrar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33101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Crear un nuevo array con los elementos que cumplan una condición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3694176"/>
            <a:ext cx="8412480" cy="0"/>
          </a:xfrm>
          <a:prstGeom prst="line">
            <a:avLst/>
          </a:prstGeom>
          <a:noFill/>
          <a:ln w="6350">
            <a:solidFill>
              <a:srgbClr val="D5D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" y="3813048"/>
            <a:ext cx="457200" cy="457200"/>
          </a:xfrm>
          <a:prstGeom prst="ellipse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3813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97280" y="376732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reduce — acumular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97280" y="404164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Reducir el array a un solo valor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4425696"/>
            <a:ext cx="8412480" cy="0"/>
          </a:xfrm>
          <a:prstGeom prst="line">
            <a:avLst/>
          </a:prstGeom>
          <a:noFill/>
          <a:ln w="6350">
            <a:solidFill>
              <a:srgbClr val="D5D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57200" y="4544568"/>
            <a:ext cx="457200" cy="457200"/>
          </a:xfrm>
          <a:prstGeom prst="ellipse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4544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97280" y="44988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Ejercicio integrador — Módulo 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97280" y="477316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Procesamos datos reales con todos los métodos</a:t>
            </a:r>
            <a:endParaRPr lang="en-US" sz="1150" dirty="0"/>
          </a:p>
        </p:txBody>
      </p:sp>
      <p:pic>
        <p:nvPicPr>
          <p:cNvPr id="35" name="Picture 34" descr="Inicio - Coding Bootcamps ESPOL">
            <a:extLst>
              <a:ext uri="{FF2B5EF4-FFF2-40B4-BE49-F238E27FC236}">
                <a16:creationId xmlns:a16="http://schemas.microsoft.com/office/drawing/2014/main" id="{BE709D5B-4704-A362-2BBF-C6C49C44F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1107" y="92409"/>
            <a:ext cx="1368573" cy="639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Repaso — métodos que ya conocemos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B"/>
                </a:solidFill>
              </a:rPr>
              <a:t>Estos los vimos en clase 2 — los repasamos rápido antes de los funcionales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89888"/>
            <a:ext cx="2011680" cy="1508760"/>
          </a:xfrm>
          <a:prstGeom prst="rect">
            <a:avLst/>
          </a:prstGeom>
          <a:solidFill>
            <a:srgbClr val="1A2E72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2011680" cy="54864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481328"/>
            <a:ext cx="1691640" cy="274320"/>
          </a:xfrm>
          <a:prstGeom prst="roundRect">
            <a:avLst>
              <a:gd name="adj" fmla="val 13333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48132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push(x)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819656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Agrega x al final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194560"/>
            <a:ext cx="1810512" cy="54864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240280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arr.push("kiwi")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96312" y="1389888"/>
            <a:ext cx="2011680" cy="1508760"/>
          </a:xfrm>
          <a:prstGeom prst="rect">
            <a:avLst/>
          </a:prstGeom>
          <a:solidFill>
            <a:srgbClr val="1A2E72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496312" y="1389888"/>
            <a:ext cx="2011680" cy="54864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587752" y="1481328"/>
            <a:ext cx="1691640" cy="274320"/>
          </a:xfrm>
          <a:prstGeom prst="roundRect">
            <a:avLst>
              <a:gd name="adj" fmla="val 13333"/>
            </a:avLst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587752" y="148132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pop()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87752" y="1819656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Elimina el último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87752" y="2194560"/>
            <a:ext cx="1810512" cy="54864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633472" y="2240280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arr.pop()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72584" y="1389888"/>
            <a:ext cx="2011680" cy="1508760"/>
          </a:xfrm>
          <a:prstGeom prst="rect">
            <a:avLst/>
          </a:prstGeom>
          <a:solidFill>
            <a:srgbClr val="1A2E72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72584" y="1389888"/>
            <a:ext cx="2011680" cy="54864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64024" y="1481328"/>
            <a:ext cx="1691640" cy="274320"/>
          </a:xfrm>
          <a:prstGeom prst="roundRect">
            <a:avLst>
              <a:gd name="adj" fmla="val 13333"/>
            </a:avLst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64024" y="148132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unshift(x)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64024" y="1819656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Agrega x al inicio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64024" y="2194560"/>
            <a:ext cx="1810512" cy="54864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09744" y="2240280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arr.unshift("fresa")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48856" y="1389888"/>
            <a:ext cx="2011680" cy="1508760"/>
          </a:xfrm>
          <a:prstGeom prst="rect">
            <a:avLst/>
          </a:prstGeom>
          <a:solidFill>
            <a:srgbClr val="1A2E72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848856" y="1389888"/>
            <a:ext cx="2011680" cy="54864"/>
          </a:xfrm>
          <a:prstGeom prst="rect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940296" y="1481328"/>
            <a:ext cx="1691640" cy="274320"/>
          </a:xfrm>
          <a:prstGeom prst="roundRect">
            <a:avLst>
              <a:gd name="adj" fmla="val 13333"/>
            </a:avLst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940296" y="148132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shift()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40296" y="1819656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Elimina el primero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940296" y="2194560"/>
            <a:ext cx="1810512" cy="54864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986016" y="2240280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arr.shift()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" y="3017520"/>
            <a:ext cx="2011680" cy="1508760"/>
          </a:xfrm>
          <a:prstGeom prst="rect">
            <a:avLst/>
          </a:prstGeom>
          <a:solidFill>
            <a:srgbClr val="1A2E72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20040" y="3017520"/>
            <a:ext cx="2011680" cy="54864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11480" y="3108960"/>
            <a:ext cx="1691640" cy="274320"/>
          </a:xfrm>
          <a:prstGeom prst="roundRect">
            <a:avLst>
              <a:gd name="adj" fmla="val 13333"/>
            </a:avLst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11480" y="31089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includes(x)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11480" y="3447288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¿Existe x?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11480" y="3822192"/>
            <a:ext cx="1810512" cy="54864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57200" y="3867912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arr.includes("mango")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496312" y="3017520"/>
            <a:ext cx="2011680" cy="1508760"/>
          </a:xfrm>
          <a:prstGeom prst="rect">
            <a:avLst/>
          </a:prstGeom>
          <a:solidFill>
            <a:srgbClr val="1A2E72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496312" y="3017520"/>
            <a:ext cx="2011680" cy="54864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2587752" y="3108960"/>
            <a:ext cx="1691640" cy="274320"/>
          </a:xfrm>
          <a:prstGeom prst="roundRect">
            <a:avLst>
              <a:gd name="adj" fmla="val 13333"/>
            </a:avLst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587752" y="31089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indexOf(x)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587752" y="3447288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Posición de x (-1 si no existe)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587752" y="3822192"/>
            <a:ext cx="1810512" cy="54864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633472" y="3867912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arr.indexOf("banana")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672584" y="3017520"/>
            <a:ext cx="2011680" cy="1508760"/>
          </a:xfrm>
          <a:prstGeom prst="rect">
            <a:avLst/>
          </a:prstGeom>
          <a:solidFill>
            <a:srgbClr val="1A2E72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672584" y="3017520"/>
            <a:ext cx="20116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764024" y="3108960"/>
            <a:ext cx="1691640" cy="27432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764024" y="31089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764024" y="3447288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Cantidad de elementos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764024" y="3822192"/>
            <a:ext cx="1810512" cy="54864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809744" y="3867912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arr.length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848856" y="3017520"/>
            <a:ext cx="2011680" cy="1508760"/>
          </a:xfrm>
          <a:prstGeom prst="rect">
            <a:avLst/>
          </a:prstGeom>
          <a:solidFill>
            <a:srgbClr val="1A2E72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848856" y="3017520"/>
            <a:ext cx="2011680" cy="54864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940296" y="3108960"/>
            <a:ext cx="1691640" cy="274320"/>
          </a:xfrm>
          <a:prstGeom prst="roundRect">
            <a:avLst>
              <a:gd name="adj" fmla="val 13333"/>
            </a:avLst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940296" y="31089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splice(i,n)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940296" y="3447288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Elimina n elementos desde i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940296" y="3822192"/>
            <a:ext cx="1810512" cy="54864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986016" y="3867912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arr.splice(1,2)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3" name="Picture 62" descr="Inicio - Coding Bootcamps ESPOL">
            <a:extLst>
              <a:ext uri="{FF2B5EF4-FFF2-40B4-BE49-F238E27FC236}">
                <a16:creationId xmlns:a16="http://schemas.microsoft.com/office/drawing/2014/main" id="{BE709D5B-4704-A362-2BBF-C6C49C44F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1963" y="192993"/>
            <a:ext cx="1368573" cy="639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forEach — ejecutar algo por cada elemento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6A"/>
                </a:solidFill>
              </a:rPr>
              <a:t>forEach recorre el array y ejecuta una función por cada elemento. No devuelve nada.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846320" cy="333756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527048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04088" y="1527048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05256" y="1527048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4663440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frutas = ["manzana","banana","naranja"];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Forma clásica (con function)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frutas.forEach(function(fruta)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console.log("Fruta: " + fruta);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Forma moderna (con arrow function)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frutas.forEach(fruta =&gt;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console.log("Fruta: " + fruta);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 índice también disponible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frutas.forEach((fruta, indice) =&gt;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console.log(indice + ": " + fruta);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0: manzana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1: banana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2: naranja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⚠️ forEach NO devuelve nada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resultado = frutas.forEach(f =&gt; f);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console.log(resultado); // → undefined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440680" y="1417320"/>
            <a:ext cx="34290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550408" y="15087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¿Cuándo usar forEach?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550408" y="1965960"/>
            <a:ext cx="3200400" cy="658368"/>
          </a:xfrm>
          <a:prstGeom prst="rect">
            <a:avLst/>
          </a:prstGeom>
          <a:solidFill>
            <a:srgbClr val="F8F8F8"/>
          </a:solidFill>
          <a:ln w="1270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23560" y="2029968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89320" y="2029968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Cuando solo querés ejecutar algo por cada elemento sin necesitar el resultado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50408" y="2715768"/>
            <a:ext cx="3200400" cy="658368"/>
          </a:xfrm>
          <a:prstGeom prst="rect">
            <a:avLst/>
          </a:prstGeom>
          <a:solidFill>
            <a:srgbClr val="F8F8F8"/>
          </a:solidFill>
          <a:ln w="1270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23560" y="2779776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989320" y="2779776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Imprimir, mostrar en pantalla, llamar una API por cada item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50408" y="3465576"/>
            <a:ext cx="3200400" cy="658368"/>
          </a:xfrm>
          <a:prstGeom prst="rect">
            <a:avLst/>
          </a:prstGeom>
          <a:solidFill>
            <a:srgbClr val="F8F8F8"/>
          </a:solidFill>
          <a:ln w="1270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23560" y="3529584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989320" y="3529584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NO usar cuando necesites el resultado transformado (usa map)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550408" y="4215384"/>
            <a:ext cx="3200400" cy="658368"/>
          </a:xfrm>
          <a:prstGeom prst="rect">
            <a:avLst/>
          </a:prstGeom>
          <a:solidFill>
            <a:srgbClr val="F8F8F8"/>
          </a:solidFill>
          <a:ln w="1270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23560" y="4279392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989320" y="4279392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NO usar cuando necesites filtrar elementos (usa filter)</a:t>
            </a:r>
            <a:endParaRPr lang="en-US" sz="1100" dirty="0"/>
          </a:p>
        </p:txBody>
      </p:sp>
      <p:pic>
        <p:nvPicPr>
          <p:cNvPr id="26" name="Picture 25" descr="Inicio - Coding Bootcamps ESPOL">
            <a:extLst>
              <a:ext uri="{FF2B5EF4-FFF2-40B4-BE49-F238E27FC236}">
                <a16:creationId xmlns:a16="http://schemas.microsoft.com/office/drawing/2014/main" id="{BE709D5B-4704-A362-2BBF-C6C49C44F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1107" y="118313"/>
            <a:ext cx="1368573" cy="639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map — transformar cada elemento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B"/>
                </a:solidFill>
              </a:rPr>
              <a:t>map crea un NUEVO array aplicando una función a cada elemento. El original no cambia.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89888"/>
            <a:ext cx="1280160" cy="475488"/>
          </a:xfrm>
          <a:prstGeom prst="roundRect">
            <a:avLst>
              <a:gd name="adj" fmla="val 11538"/>
            </a:avLst>
          </a:prstGeom>
          <a:solidFill>
            <a:srgbClr val="1E3A72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148840" y="1389888"/>
            <a:ext cx="1280160" cy="475488"/>
          </a:xfrm>
          <a:prstGeom prst="roundRect">
            <a:avLst>
              <a:gd name="adj" fmla="val 11538"/>
            </a:avLst>
          </a:prstGeom>
          <a:solidFill>
            <a:srgbClr val="1E3A72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148840" y="1389888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749040" y="1389888"/>
            <a:ext cx="1280160" cy="475488"/>
          </a:xfrm>
          <a:prstGeom prst="roundRect">
            <a:avLst>
              <a:gd name="adj" fmla="val 11538"/>
            </a:avLst>
          </a:prstGeom>
          <a:solidFill>
            <a:srgbClr val="1E3A72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749040" y="1389888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349240" y="1389888"/>
            <a:ext cx="1280160" cy="475488"/>
          </a:xfrm>
          <a:prstGeom prst="roundRect">
            <a:avLst>
              <a:gd name="adj" fmla="val 11538"/>
            </a:avLst>
          </a:prstGeom>
          <a:solidFill>
            <a:srgbClr val="1E3A72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49240" y="1389888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949440" y="1389888"/>
            <a:ext cx="1280160" cy="475488"/>
          </a:xfrm>
          <a:prstGeom prst="roundRect">
            <a:avLst>
              <a:gd name="adj" fmla="val 11538"/>
            </a:avLst>
          </a:prstGeom>
          <a:solidFill>
            <a:srgbClr val="1E3A72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949440" y="1389888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5760" y="19019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0AECB"/>
                </a:solidFill>
              </a:rPr>
              <a:t>nums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74720" y="224028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74720" y="2240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=&gt; n * 2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0" y="1901952"/>
            <a:ext cx="0" cy="347472"/>
          </a:xfrm>
          <a:prstGeom prst="line">
            <a:avLst/>
          </a:prstGeom>
          <a:noFill/>
          <a:ln w="25400">
            <a:solidFill>
              <a:srgbClr val="A8F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0" y="2697480"/>
            <a:ext cx="0" cy="256032"/>
          </a:xfrm>
          <a:prstGeom prst="line">
            <a:avLst/>
          </a:prstGeom>
          <a:noFill/>
          <a:ln w="25400">
            <a:solidFill>
              <a:srgbClr val="A8F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8640" y="2999232"/>
            <a:ext cx="1280160" cy="475488"/>
          </a:xfrm>
          <a:prstGeom prst="roundRect">
            <a:avLst>
              <a:gd name="adj" fmla="val 11538"/>
            </a:avLst>
          </a:prstGeom>
          <a:solidFill>
            <a:srgbClr val="0A3A1A"/>
          </a:solidFill>
          <a:ln w="12700">
            <a:solidFill>
              <a:srgbClr val="A8F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2999232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2148840" y="2999232"/>
            <a:ext cx="1280160" cy="475488"/>
          </a:xfrm>
          <a:prstGeom prst="roundRect">
            <a:avLst>
              <a:gd name="adj" fmla="val 11538"/>
            </a:avLst>
          </a:prstGeom>
          <a:solidFill>
            <a:srgbClr val="0A3A1A"/>
          </a:solidFill>
          <a:ln w="12700">
            <a:solidFill>
              <a:srgbClr val="A8F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148840" y="2999232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749040" y="2999232"/>
            <a:ext cx="1280160" cy="475488"/>
          </a:xfrm>
          <a:prstGeom prst="roundRect">
            <a:avLst>
              <a:gd name="adj" fmla="val 11538"/>
            </a:avLst>
          </a:prstGeom>
          <a:solidFill>
            <a:srgbClr val="0A3A1A"/>
          </a:solidFill>
          <a:ln w="12700">
            <a:solidFill>
              <a:srgbClr val="A8F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749040" y="2999232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349240" y="2999232"/>
            <a:ext cx="1280160" cy="475488"/>
          </a:xfrm>
          <a:prstGeom prst="roundRect">
            <a:avLst>
              <a:gd name="adj" fmla="val 11538"/>
            </a:avLst>
          </a:prstGeom>
          <a:solidFill>
            <a:srgbClr val="0A3A1A"/>
          </a:solidFill>
          <a:ln w="12700">
            <a:solidFill>
              <a:srgbClr val="A8F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349240" y="2999232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949440" y="2999232"/>
            <a:ext cx="1280160" cy="475488"/>
          </a:xfrm>
          <a:prstGeom prst="roundRect">
            <a:avLst>
              <a:gd name="adj" fmla="val 11538"/>
            </a:avLst>
          </a:prstGeom>
          <a:solidFill>
            <a:srgbClr val="0A3A1A"/>
          </a:solidFill>
          <a:ln w="12700">
            <a:solidFill>
              <a:srgbClr val="A8F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949440" y="2999232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65760" y="351129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8FF78"/>
                </a:solidFill>
              </a:rPr>
              <a:t>dobles (nuevo array)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822192"/>
            <a:ext cx="8412480" cy="91440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" y="3913632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nums   = [1, 2, 3, 4, 5];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dobles = nums.map(n =&gt; n * 2);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console.log(dobles); // → [2, 4, 6, 8, 10]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console.log(nums);   // → [1, 2, 3, 4, 5]  (el original NO cambia)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Picture 34" descr="Inicio - Coding Bootcamps ESPOL">
            <a:extLst>
              <a:ext uri="{FF2B5EF4-FFF2-40B4-BE49-F238E27FC236}">
                <a16:creationId xmlns:a16="http://schemas.microsoft.com/office/drawing/2014/main" id="{BE709D5B-4704-A362-2BBF-C6C49C44F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8227" y="183364"/>
            <a:ext cx="1368573" cy="639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map — ejemplos prácticos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417320"/>
            <a:ext cx="26974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697480" cy="64008"/>
          </a:xfrm>
          <a:prstGeom prst="rect">
            <a:avLst/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9768" y="148132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80"/>
                </a:solidFill>
              </a:rPr>
              <a:t>Transformar strings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" y="1892808"/>
            <a:ext cx="2468880" cy="274320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" y="1956816"/>
            <a:ext cx="2331720" cy="2615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nombres = ["ana","carlos","maría"];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mayusculas = nombres.map(n =&gt; n.toUpperCase());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console.log(mayusculas);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["ANA","CARLOS","MARÍA"]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1417320"/>
            <a:ext cx="26974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0" y="1417320"/>
            <a:ext cx="2697480" cy="64008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10128" y="148132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8754"/>
                </a:solidFill>
              </a:rPr>
              <a:t>Calcular con objetos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10128" y="1892808"/>
            <a:ext cx="2468880" cy="274320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64992" y="1956816"/>
            <a:ext cx="2331720" cy="2615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productos = [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nombre:"Laptop", precio: 800 },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nombre:"Mouse",  precio:  25 },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precios = productos.map(p =&gt; p.precio * 1.12);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[896, 28]  (precio con IVA 12%)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80760" y="1417320"/>
            <a:ext cx="26974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80760" y="1417320"/>
            <a:ext cx="2697480" cy="6400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90488" y="148132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F42C1"/>
                </a:solidFill>
              </a:rPr>
              <a:t>Transformar a objetos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90488" y="1892808"/>
            <a:ext cx="2468880" cy="274320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45352" y="1956816"/>
            <a:ext cx="2331720" cy="2615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edades = [20, 25, 17, 30];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usuarios = edades.map((edad, i) =&gt; ({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i + 1,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edad,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esMayor: edad &gt;= 18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}));</a:t>
            </a:r>
            <a:endParaRPr lang="en-US" sz="1050" dirty="0"/>
          </a:p>
        </p:txBody>
      </p:sp>
      <p:pic>
        <p:nvPicPr>
          <p:cNvPr id="21" name="Picture 20" descr="Inicio - Coding Bootcamps ESPOL">
            <a:extLst>
              <a:ext uri="{FF2B5EF4-FFF2-40B4-BE49-F238E27FC236}">
                <a16:creationId xmlns:a16="http://schemas.microsoft.com/office/drawing/2014/main" id="{BE709D5B-4704-A362-2BBF-C6C49C44F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4928" y="183364"/>
            <a:ext cx="1368573" cy="639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filter — quedarse solo con los que cumplen la condición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B"/>
                </a:solidFill>
              </a:rPr>
              <a:t>filter crea un NUEVO array con los elementos para los que la función devuelve true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1417320" cy="475488"/>
          </a:xfrm>
          <a:prstGeom prst="roundRect">
            <a:avLst>
              <a:gd name="adj" fmla="val 11538"/>
            </a:avLst>
          </a:prstGeom>
          <a:solidFill>
            <a:srgbClr val="3D1010"/>
          </a:solidFill>
          <a:ln w="12700">
            <a:solidFill>
              <a:srgbClr val="FF6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389888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90195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❌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94560" y="1389888"/>
            <a:ext cx="1417320" cy="475488"/>
          </a:xfrm>
          <a:prstGeom prst="roundRect">
            <a:avLst>
              <a:gd name="adj" fmla="val 11538"/>
            </a:avLst>
          </a:prstGeom>
          <a:solidFill>
            <a:srgbClr val="0A2E1A"/>
          </a:solidFill>
          <a:ln w="12700">
            <a:solidFill>
              <a:srgbClr val="A8F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194560" y="1389888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194560" y="190195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86200" y="1389888"/>
            <a:ext cx="1417320" cy="475488"/>
          </a:xfrm>
          <a:prstGeom prst="roundRect">
            <a:avLst>
              <a:gd name="adj" fmla="val 11538"/>
            </a:avLst>
          </a:prstGeom>
          <a:solidFill>
            <a:srgbClr val="3D1010"/>
          </a:solidFill>
          <a:ln w="12700">
            <a:solidFill>
              <a:srgbClr val="FF6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86200" y="1389888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886200" y="190195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❌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577840" y="1389888"/>
            <a:ext cx="1417320" cy="475488"/>
          </a:xfrm>
          <a:prstGeom prst="roundRect">
            <a:avLst>
              <a:gd name="adj" fmla="val 11538"/>
            </a:avLst>
          </a:prstGeom>
          <a:solidFill>
            <a:srgbClr val="0A2E1A"/>
          </a:solidFill>
          <a:ln w="12700">
            <a:solidFill>
              <a:srgbClr val="A8F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577840" y="1389888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577840" y="190195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269480" y="1389888"/>
            <a:ext cx="1417320" cy="475488"/>
          </a:xfrm>
          <a:prstGeom prst="roundRect">
            <a:avLst>
              <a:gd name="adj" fmla="val 11538"/>
            </a:avLst>
          </a:prstGeom>
          <a:solidFill>
            <a:srgbClr val="0A2E1A"/>
          </a:solidFill>
          <a:ln w="12700">
            <a:solidFill>
              <a:srgbClr val="A8F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269480" y="1389888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269480" y="190195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" y="22402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&gt;= 18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645920" y="2743200"/>
            <a:ext cx="1417320" cy="475488"/>
          </a:xfrm>
          <a:prstGeom prst="roundRect">
            <a:avLst>
              <a:gd name="adj" fmla="val 11538"/>
            </a:avLst>
          </a:prstGeom>
          <a:solidFill>
            <a:srgbClr val="0A2E1A"/>
          </a:solidFill>
          <a:ln w="12700">
            <a:solidFill>
              <a:srgbClr val="A8F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645920" y="2743200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337560" y="2743200"/>
            <a:ext cx="1417320" cy="475488"/>
          </a:xfrm>
          <a:prstGeom prst="roundRect">
            <a:avLst>
              <a:gd name="adj" fmla="val 11538"/>
            </a:avLst>
          </a:prstGeom>
          <a:solidFill>
            <a:srgbClr val="0A2E1A"/>
          </a:solidFill>
          <a:ln w="12700">
            <a:solidFill>
              <a:srgbClr val="A8F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37560" y="2743200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029200" y="2743200"/>
            <a:ext cx="1417320" cy="475488"/>
          </a:xfrm>
          <a:prstGeom prst="roundRect">
            <a:avLst>
              <a:gd name="adj" fmla="val 11538"/>
            </a:avLst>
          </a:prstGeom>
          <a:solidFill>
            <a:srgbClr val="0A2E1A"/>
          </a:solidFill>
          <a:ln w="12700">
            <a:solidFill>
              <a:srgbClr val="A8F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0" y="2743200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65760" y="32735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[25, 30, 19]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65760" y="3657600"/>
            <a:ext cx="8412480" cy="987552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3749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edades   = [12, 25, 8, 30, 19];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mayores  = edades.filter(n =&gt; n &gt;= 18);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console.log(mayores); // → [25, 30, 19]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console.log(edades);  // → [12,25,8,30,19]  (el original NO cambia)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filter — ejemplos prácticos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417320"/>
            <a:ext cx="26974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697480" cy="64008"/>
          </a:xfrm>
          <a:prstGeom prst="rect">
            <a:avLst/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9768" y="148132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80"/>
                </a:solidFill>
              </a:rPr>
              <a:t>Filtrar strings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" y="1892808"/>
            <a:ext cx="2468880" cy="274320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" y="1956816"/>
            <a:ext cx="2331720" cy="2615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frutas = ["manzana","mango","melón","banana","mandarina"];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conM = frutas.filter(f =&gt; f.startsWith("m"));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console.log(conM);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["manzana","mango","melón","mandarina"]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1417320"/>
            <a:ext cx="26974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0" y="1417320"/>
            <a:ext cx="2697480" cy="64008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10128" y="148132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8754"/>
                </a:solidFill>
              </a:rPr>
              <a:t>Filtrar objetos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10128" y="1892808"/>
            <a:ext cx="2468880" cy="274320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64992" y="1956816"/>
            <a:ext cx="2331720" cy="2615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productos = [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nombre:"Laptop", stock: 0  },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nombre:"Mouse",  stock: 15 },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nombre:"Teclado",stock: 3  },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disponibles = productos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.filter(p =&gt; p.stock &gt; 0);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Mouse y Teclado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80760" y="1417320"/>
            <a:ext cx="26974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80760" y="1417320"/>
            <a:ext cx="2697480" cy="6400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90488" y="148132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F42C1"/>
                </a:solidFill>
              </a:rPr>
              <a:t>Combinar map + filter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90488" y="1892808"/>
            <a:ext cx="2468880" cy="274320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45352" y="1956816"/>
            <a:ext cx="2331720" cy="2615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nums = [1,2,3,4,5,6,7,8,9,10];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Pasos: 1) filtrá los pares, 2) doblá cada uno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resultado = nums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.filter(n =&gt; n % 2 === 0)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.map(n =&gt; n * 2);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[4, 8, 12, 16, 20]</a:t>
            </a:r>
            <a:endParaRPr lang="en-US" sz="1050" dirty="0"/>
          </a:p>
        </p:txBody>
      </p:sp>
      <p:pic>
        <p:nvPicPr>
          <p:cNvPr id="21" name="Picture 20" descr="Inicio - Coding Bootcamps ESPOL">
            <a:extLst>
              <a:ext uri="{FF2B5EF4-FFF2-40B4-BE49-F238E27FC236}">
                <a16:creationId xmlns:a16="http://schemas.microsoft.com/office/drawing/2014/main" id="{BE709D5B-4704-A362-2BBF-C6C49C44F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67" y="183364"/>
            <a:ext cx="1368573" cy="639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reduce — acumular todo en un solo valor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B"/>
                </a:solidFill>
              </a:rPr>
              <a:t>reduce recorre el array y va acumulando un resultado. Es el más poderoso y el más difícil.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89888"/>
            <a:ext cx="8412480" cy="64008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arr.reduce(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48840" y="148132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(acum, actual) =&gt;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92040" y="148132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acum + actual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03720" y="14813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9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 0  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057400" y="20848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E66D"/>
                </a:solidFill>
              </a:rPr>
              <a:t>función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E66D"/>
                </a:solidFill>
              </a:rPr>
              <a:t>acumuladora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20848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FF78"/>
                </a:solidFill>
              </a:rPr>
              <a:t>resultado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8FF78"/>
                </a:solidFill>
              </a:rPr>
              <a:t>devuelto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903720" y="20848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9090"/>
                </a:solidFill>
              </a:rPr>
              <a:t>valor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9090"/>
                </a:solidFill>
              </a:rPr>
              <a:t>inicial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5786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¿Qué pasa con  [1, 2, 3, 4, 5].reduce((a, n) =&gt; a + n, 0)  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2971800"/>
            <a:ext cx="2029968" cy="301752"/>
          </a:xfrm>
          <a:prstGeom prst="rect">
            <a:avLst/>
          </a:prstGeom>
          <a:solidFill>
            <a:srgbClr val="1A2B6D"/>
          </a:solidFill>
          <a:ln w="381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2971800"/>
            <a:ext cx="20299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Vuelta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68880" y="2971800"/>
            <a:ext cx="2029968" cy="301752"/>
          </a:xfrm>
          <a:prstGeom prst="rect">
            <a:avLst/>
          </a:prstGeom>
          <a:solidFill>
            <a:srgbClr val="1A2B6D"/>
          </a:solidFill>
          <a:ln w="381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468880" y="2971800"/>
            <a:ext cx="20299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acum (antes)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2971800"/>
            <a:ext cx="2029968" cy="301752"/>
          </a:xfrm>
          <a:prstGeom prst="rect">
            <a:avLst/>
          </a:prstGeom>
          <a:solidFill>
            <a:srgbClr val="1A2B6D"/>
          </a:solidFill>
          <a:ln w="381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0" y="2971800"/>
            <a:ext cx="20299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actual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75120" y="2971800"/>
            <a:ext cx="2029968" cy="301752"/>
          </a:xfrm>
          <a:prstGeom prst="rect">
            <a:avLst/>
          </a:prstGeom>
          <a:solidFill>
            <a:srgbClr val="1A2B6D"/>
          </a:solidFill>
          <a:ln w="381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675120" y="2971800"/>
            <a:ext cx="20299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acum (después)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291840"/>
            <a:ext cx="2029968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3291840"/>
            <a:ext cx="20299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468880" y="3291840"/>
            <a:ext cx="2029968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468880" y="3291840"/>
            <a:ext cx="20299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0" y="3291840"/>
            <a:ext cx="2029968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0" y="3291840"/>
            <a:ext cx="20299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675120" y="3291840"/>
            <a:ext cx="2029968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675120" y="3291840"/>
            <a:ext cx="20299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" y="3611880"/>
            <a:ext cx="2029968" cy="301752"/>
          </a:xfrm>
          <a:prstGeom prst="rect">
            <a:avLst/>
          </a:prstGeom>
          <a:solidFill>
            <a:srgbClr val="F0EEE8"/>
          </a:solidFill>
          <a:ln w="381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65760" y="3611880"/>
            <a:ext cx="20299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468880" y="3611880"/>
            <a:ext cx="2029968" cy="301752"/>
          </a:xfrm>
          <a:prstGeom prst="rect">
            <a:avLst/>
          </a:prstGeom>
          <a:solidFill>
            <a:srgbClr val="F0EEE8"/>
          </a:solidFill>
          <a:ln w="381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468880" y="3611880"/>
            <a:ext cx="20299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0" y="3611880"/>
            <a:ext cx="2029968" cy="301752"/>
          </a:xfrm>
          <a:prstGeom prst="rect">
            <a:avLst/>
          </a:prstGeom>
          <a:solidFill>
            <a:srgbClr val="F0EEE8"/>
          </a:solidFill>
          <a:ln w="381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572000" y="3611880"/>
            <a:ext cx="20299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675120" y="3611880"/>
            <a:ext cx="2029968" cy="301752"/>
          </a:xfrm>
          <a:prstGeom prst="rect">
            <a:avLst/>
          </a:prstGeom>
          <a:solidFill>
            <a:srgbClr val="F0EEE8"/>
          </a:solidFill>
          <a:ln w="381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675120" y="3611880"/>
            <a:ext cx="20299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65760" y="3931920"/>
            <a:ext cx="2029968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65760" y="3931920"/>
            <a:ext cx="20299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468880" y="3931920"/>
            <a:ext cx="2029968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468880" y="3931920"/>
            <a:ext cx="20299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572000" y="3931920"/>
            <a:ext cx="2029968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572000" y="3931920"/>
            <a:ext cx="20299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675120" y="3931920"/>
            <a:ext cx="2029968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675120" y="3931920"/>
            <a:ext cx="20299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65760" y="4251960"/>
            <a:ext cx="2029968" cy="301752"/>
          </a:xfrm>
          <a:prstGeom prst="rect">
            <a:avLst/>
          </a:prstGeom>
          <a:solidFill>
            <a:srgbClr val="F0EEE8"/>
          </a:solidFill>
          <a:ln w="381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65760" y="4251960"/>
            <a:ext cx="20299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468880" y="4251960"/>
            <a:ext cx="2029968" cy="301752"/>
          </a:xfrm>
          <a:prstGeom prst="rect">
            <a:avLst/>
          </a:prstGeom>
          <a:solidFill>
            <a:srgbClr val="F0EEE8"/>
          </a:solidFill>
          <a:ln w="381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468880" y="4251960"/>
            <a:ext cx="20299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572000" y="4251960"/>
            <a:ext cx="2029968" cy="301752"/>
          </a:xfrm>
          <a:prstGeom prst="rect">
            <a:avLst/>
          </a:prstGeom>
          <a:solidFill>
            <a:srgbClr val="F0EEE8"/>
          </a:solidFill>
          <a:ln w="381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572000" y="4251960"/>
            <a:ext cx="20299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675120" y="4251960"/>
            <a:ext cx="2029968" cy="301752"/>
          </a:xfrm>
          <a:prstGeom prst="rect">
            <a:avLst/>
          </a:prstGeom>
          <a:solidFill>
            <a:srgbClr val="F0EEE8"/>
          </a:solidFill>
          <a:ln w="381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675120" y="4251960"/>
            <a:ext cx="20299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365760" y="4572000"/>
            <a:ext cx="2029968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65760" y="4572000"/>
            <a:ext cx="20299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2468880" y="4572000"/>
            <a:ext cx="2029968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2468880" y="4572000"/>
            <a:ext cx="20299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572000" y="4572000"/>
            <a:ext cx="2029968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572000" y="4572000"/>
            <a:ext cx="20299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675120" y="4572000"/>
            <a:ext cx="2029968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675120" y="4572000"/>
            <a:ext cx="20299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← resultado final</a:t>
            </a:r>
            <a:endParaRPr lang="en-US" sz="1050" dirty="0"/>
          </a:p>
        </p:txBody>
      </p:sp>
      <p:pic>
        <p:nvPicPr>
          <p:cNvPr id="64" name="Picture 63" descr="Inicio - Coding Bootcamps ESPOL">
            <a:extLst>
              <a:ext uri="{FF2B5EF4-FFF2-40B4-BE49-F238E27FC236}">
                <a16:creationId xmlns:a16="http://schemas.microsoft.com/office/drawing/2014/main" id="{BE709D5B-4704-A362-2BBF-C6C49C44F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9518" y="156902"/>
            <a:ext cx="1368573" cy="639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reduce — ejemplos prácticos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12520"/>
            <a:ext cx="8412480" cy="397002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222248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04088" y="1222248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05256" y="1222248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359408"/>
            <a:ext cx="8229600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precios = [120, 45, 89, 200, 15];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Suma total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total = precios.reduce((suma, precio) =&gt; suma + precio, 0);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console.log(total); // → 469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El máximo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maximo = precios.reduce((max, precio) =&gt; precio &gt; max ? precio : max, 0);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console.log(maximo); // → 200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Contar cuántos superan 100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caros = precios.reduce((cuenta, precio) =&gt;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precio &gt; 100 ? cuenta + 1 : cuenta;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0);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console.log(caros); // → 2  (120 y 200)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4. Construir un objeto de frecuencias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frutas = ["manzana","banana","manzana","naranja","banana","manzana"];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frecuencia = frutas.reduce((obj, fruta) =&gt;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obj[fruta] = (obj[fruta] || 0) + 1;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obj;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{});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console.log(frecuencia); // → { manzana:3, banana:2, naranja:1 }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Ejercicio Integrador — Módulo 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6A"/>
                </a:solidFill>
              </a:rPr>
              <a:t>Procesamos datos de un equipo de desarrollo con todos los métodos vistos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029200" cy="3310128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527048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04088" y="1527048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05256" y="1527048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4846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equipo = [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nombre:"Ana",    lenguaje:"JS",  exp:3, activo:true  },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nombre:"Carlos", lenguaje:"Python",exp:5,activo:true  },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nombre:"María",  lenguaje:"JS",  exp:1, activo:false },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nombre:"Pedro",  lenguaje:"Java",exp:8, activo:true  },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nombre:"Sofía",  lenguaje:"JS",  exp:4, activo:true  },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Nombres de todos (map)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nombres = equipo.map(d =&gt; d.nombre);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Solo los activos de JS (filter)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jsActivos = equipo.filter(d =&gt; d.activo &amp;&amp; d.lenguaje === "JS");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Experiencia promedio de los activos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activos = equipo.filter(d =&gt; d.activo);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expTotal = activos.reduce((sum, d) =&gt; sum + d.exp, 0);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promedio = expTotal / activos.length;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4. Lista de "Nombre - Lenguaje" (map)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fichas = equipo.map(d =&gt; d.nombre + " - " + d.lenguaje);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669280" y="14173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Desafíos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0" y="1920240"/>
            <a:ext cx="292608" cy="29260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0" y="19202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35040" y="193852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Encontrá al desarrollador con más experiencia (reduce)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0" y="2514600"/>
            <a:ext cx="292608" cy="29260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69280" y="25146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35040" y="253288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Contá cuántos usan cada lenguaje (reduce → objeto)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0" y="3108960"/>
            <a:ext cx="292608" cy="29260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0" y="31089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35040" y="312724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Ordená el equipo por experiencia de menor a mayor (.sort)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0" y="3703320"/>
            <a:ext cx="292608" cy="29260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69280" y="37033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35040" y="372160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Verificá si TODOS los activos tienen más de 1 año (.every)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0" y="4297680"/>
            <a:ext cx="292608" cy="29260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69280" y="42976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35040" y="431596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Encontrá el PRIMER desarrollador de JS (.find)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Errores comunes — map, filter, reduce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697480" cy="64008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9768" y="11704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3545"/>
                </a:solidFill>
              </a:rPr>
              <a:t>❌ map sin return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5316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6A"/>
                </a:solidFill>
              </a:rPr>
              <a:t>Si usás llaves en la arrow function, necesitás return explícito. Sin él, map produce un array de undefined.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9768" y="2029968"/>
            <a:ext cx="2468880" cy="731520"/>
          </a:xfrm>
          <a:prstGeom prst="rect">
            <a:avLst/>
          </a:prstGeom>
          <a:solidFill>
            <a:srgbClr val="3D1010"/>
          </a:solidFill>
          <a:ln w="12700">
            <a:solidFill>
              <a:srgbClr val="5D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" y="207568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dobles = nums.map(n =&gt;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 * 2; // sin return!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console.log(dobles);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9768" y="2807208"/>
            <a:ext cx="2468880" cy="384048"/>
          </a:xfrm>
          <a:prstGeom prst="rect">
            <a:avLst/>
          </a:prstGeom>
          <a:solidFill>
            <a:srgbClr val="2A0A0A"/>
          </a:solidFill>
          <a:ln w="12700">
            <a:solidFill>
              <a:srgbClr val="5D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82549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→ [undefined, undefined, ...]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" y="3236976"/>
            <a:ext cx="2468880" cy="1106424"/>
          </a:xfrm>
          <a:prstGeom prst="rect">
            <a:avLst/>
          </a:prstGeom>
          <a:solidFill>
            <a:srgbClr val="0A2E1A"/>
          </a:solidFill>
          <a:ln w="12700">
            <a:solidFill>
              <a:srgbClr val="1A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" y="3282696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dobles = nums.map(n =&gt; n * 2);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 con llaves: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dobles = nums.map(n =&gt;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 * 2; // ← return ✅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9768" y="447141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8754"/>
                </a:solidFill>
              </a:rPr>
              <a:t>✅ Correcto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109728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0" y="1097280"/>
            <a:ext cx="2697480" cy="64008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10128" y="11704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3545"/>
                </a:solidFill>
              </a:rPr>
              <a:t>❌ filter sin condición booleana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10128" y="15087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6A"/>
                </a:solidFill>
              </a:rPr>
              <a:t>filter espera una función que devuelva true/false. Si devolvés el elemento mismo puede funcionar por truthy/falsy, pero es confuso.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10128" y="2029968"/>
            <a:ext cx="2468880" cy="731520"/>
          </a:xfrm>
          <a:prstGeom prst="rect">
            <a:avLst/>
          </a:prstGeom>
          <a:solidFill>
            <a:srgbClr val="3D1010"/>
          </a:solidFill>
          <a:ln w="12700">
            <a:solidFill>
              <a:srgbClr val="5D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364992" y="207568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Quisiste filtrar los &gt; 5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res = nums.filter(n =&gt;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 &gt; 5; // no hay return!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10128" y="2807208"/>
            <a:ext cx="2468880" cy="384048"/>
          </a:xfrm>
          <a:prstGeom prst="rect">
            <a:avLst/>
          </a:prstGeom>
          <a:solidFill>
            <a:srgbClr val="2A0A0A"/>
          </a:solidFill>
          <a:ln w="12700">
            <a:solidFill>
              <a:srgbClr val="5D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37560" y="282549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→ [] array vacío (todo es undefined = falsy)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310128" y="3236976"/>
            <a:ext cx="2468880" cy="1088136"/>
          </a:xfrm>
          <a:prstGeom prst="rect">
            <a:avLst/>
          </a:prstGeom>
          <a:solidFill>
            <a:srgbClr val="0A2E1A"/>
          </a:solidFill>
          <a:ln w="12700">
            <a:solidFill>
              <a:srgbClr val="1A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64992" y="3282696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res = nums.filter(n =&gt; n &gt; 5);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 con llaves: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res = nums.filter(n =&gt;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 &gt; 5; // ← return ✅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14700" y="4434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8754"/>
                </a:solidFill>
              </a:rPr>
              <a:t>✅ Correcto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80760" y="109728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080760" y="1097280"/>
            <a:ext cx="2697480" cy="64008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90488" y="11704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3545"/>
                </a:solidFill>
              </a:rPr>
              <a:t>❌ Olvidar el valor inicial en reduce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90488" y="14859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6A"/>
                </a:solidFill>
              </a:rPr>
              <a:t>Sin valor inicial, reduce usa el primer elemento como acumulador inicial y empieza desde el segundo. Con array vacío da error.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90488" y="2029968"/>
            <a:ext cx="2468880" cy="731520"/>
          </a:xfrm>
          <a:prstGeom prst="rect">
            <a:avLst/>
          </a:prstGeom>
          <a:solidFill>
            <a:srgbClr val="3D1010"/>
          </a:solidFill>
          <a:ln w="12700">
            <a:solidFill>
              <a:srgbClr val="5D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45352" y="207568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total = [].reduce((a, n) =&gt; a + n);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Error con array vacío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90488" y="2807208"/>
            <a:ext cx="2468880" cy="384048"/>
          </a:xfrm>
          <a:prstGeom prst="rect">
            <a:avLst/>
          </a:prstGeom>
          <a:solidFill>
            <a:srgbClr val="2A0A0A"/>
          </a:solidFill>
          <a:ln w="12700">
            <a:solidFill>
              <a:srgbClr val="5D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17920" y="282549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TypeError: Reduce of empty array with no initial value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190488" y="3236976"/>
            <a:ext cx="2468880" cy="1088136"/>
          </a:xfrm>
          <a:prstGeom prst="rect">
            <a:avLst/>
          </a:prstGeom>
          <a:solidFill>
            <a:srgbClr val="0A2E1A"/>
          </a:solidFill>
          <a:ln w="12700">
            <a:solidFill>
              <a:srgbClr val="1A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245352" y="3282696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total = [].reduce((a, n) =&gt; a + n, 0);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✅ Con valor inicial 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0 (aunque el array esté vacío)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72200" y="44165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8754"/>
                </a:solidFill>
              </a:rPr>
              <a:t>✅ Correcto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Resumen de hoy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256032" cy="25603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144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8F0"/>
                </a:solidFill>
              </a:rPr>
              <a:t>forEach: ejecuta algo por cada elemento — no devuelve nada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1480" y="1408176"/>
            <a:ext cx="256032" cy="25603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4081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1408176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8F0"/>
                </a:solidFill>
              </a:rPr>
              <a:t>map: crea un NUEVO array transformando cada elemento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" y="1901952"/>
            <a:ext cx="256032" cy="25603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19019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1901952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8F0"/>
                </a:solidFill>
              </a:rPr>
              <a:t>filter: crea un NUEVO array con los elementos que pasan la condición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11480" y="2395728"/>
            <a:ext cx="256032" cy="25603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23957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2395728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8F0"/>
                </a:solidFill>
              </a:rPr>
              <a:t>reduce: acumula el array en un solo valor (suma, máximo, objeto...)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11480" y="2889504"/>
            <a:ext cx="256032" cy="25603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28895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2889504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8F0"/>
                </a:solidFill>
              </a:rPr>
              <a:t>Todos reciben una función (arrow) como argumento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11480" y="3383280"/>
            <a:ext cx="256032" cy="25603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33832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338328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8F0"/>
                </a:solidFill>
              </a:rPr>
              <a:t>Ninguno modifica el array original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852160" y="777240"/>
            <a:ext cx="3063240" cy="2697480"/>
          </a:xfrm>
          <a:prstGeom prst="rect">
            <a:avLst/>
          </a:prstGeom>
          <a:solidFill>
            <a:srgbClr val="111C4A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852160" y="777240"/>
            <a:ext cx="3063240" cy="73152"/>
          </a:xfrm>
          <a:prstGeom prst="rect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89320" y="85039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E66D"/>
                </a:solidFill>
              </a:rPr>
              <a:t>Tarea para casa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89320" y="1298448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</a:rPr>
              <a:t>1.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91072" y="129844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Dado un array de precios, calculá el total, el promedio y el precio máximo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89320" y="182880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</a:rPr>
              <a:t>2.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91072" y="182880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Filtrá los productos con stock &gt; 0 y mostrá solo sus nombres con map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89320" y="2359152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</a:rPr>
              <a:t>3.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91072" y="235915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Usá map + filter encadenados: precios de productos activos con IVA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89320" y="2889504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</a:rPr>
              <a:t>4.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91072" y="2889504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Subí a clase-08 en GitHub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2080</Words>
  <Application>Microsoft Office PowerPoint</Application>
  <PresentationFormat>On-screen Show (16:9)</PresentationFormat>
  <Paragraphs>341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Courier New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8 - Arreglos: map, filter, reduce, forEach</dc:title>
  <dc:subject>PptxGenJS Presentation</dc:subject>
  <dc:creator>PptxGenJS</dc:creator>
  <cp:lastModifiedBy>Javier Alejandro Gutierrez Macias</cp:lastModifiedBy>
  <cp:revision>2</cp:revision>
  <dcterms:created xsi:type="dcterms:W3CDTF">2026-03-28T23:25:23Z</dcterms:created>
  <dcterms:modified xsi:type="dcterms:W3CDTF">2026-03-29T20:22:23Z</dcterms:modified>
</cp:coreProperties>
</file>