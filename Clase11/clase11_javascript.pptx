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8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345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Buenas Prácticas,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Patrones y Cierre del Curso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Prof. Javier Gutiérrez  ·  Coding Bootcamps ESPOL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Mié 13 may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19h30 – 21h30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  <p:pic>
        <p:nvPicPr>
          <p:cNvPr id="16" name="Picture 15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553" y="2179526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del día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Estilo de código — ESLint y Prettier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Escribir código limpio y consistente automáticamente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Convenciones de nomenclatura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Cómo nombrar variables, funciones, clases y constantes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Patrones de diseño básicos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Module, Factory, Observer — soluciones probadas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Documentación con JSDoc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Comentar el código de forma profesional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Repaso final y próximos pasos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Qué aprendiste y hacia dónde seguir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¿Por qué importa el estilo de código?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El código se lee muchas más veces de las que se escribe. Escribir código claro es una habilidad profesional.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023360" cy="3401568"/>
          </a:xfrm>
          <a:prstGeom prst="rect">
            <a:avLst/>
          </a:prstGeom>
          <a:solidFill>
            <a:srgbClr val="2A1010"/>
          </a:solidFill>
          <a:ln w="12700">
            <a:solidFill>
              <a:srgbClr val="5D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2336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5389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080"/>
                </a:solidFill>
              </a:rPr>
              <a:t>❌ Código difícil de leer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874520"/>
            <a:ext cx="3794760" cy="2834640"/>
          </a:xfrm>
          <a:prstGeom prst="rect">
            <a:avLst/>
          </a:prstGeom>
          <a:solidFill>
            <a:srgbClr val="1E1E2E"/>
          </a:solidFill>
          <a:ln w="12700">
            <a:solidFill>
              <a:srgbClr val="3D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c(a,b,x){if(x==='s'){return a+b}else if(x==='r'){return a-b}else if(x==='m'){return a*b}else{if(b===0){return null}return a/b}}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89888"/>
            <a:ext cx="4023360" cy="340156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89888"/>
            <a:ext cx="402336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45389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78"/>
                </a:solidFill>
              </a:rPr>
              <a:t>✅ Código legible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64608" y="1874520"/>
            <a:ext cx="3794760" cy="2834640"/>
          </a:xfrm>
          <a:prstGeom prst="rect">
            <a:avLst/>
          </a:prstGeom>
          <a:solidFill>
            <a:srgbClr val="1E1E2E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938528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Realiza una operación aritmética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@param {number} a - Primer operando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@param {number} b - Segundo operando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@param {string} operacion - "+","-","*","/"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calcular(a, b, operacion)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(operacion)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"+": return a + 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"-": return a - 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"*": return a * 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"/":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(b === 0) return null;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a / 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 return null;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ESLint y Prettier — herramientas automáticas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No tienes que recordar todas las reglas — estas herramientas las aplican automáticamente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64008"/>
          </a:xfrm>
          <a:prstGeom prst="rect">
            <a:avLst/>
          </a:prstGeom>
          <a:solidFill>
            <a:srgbClr val="4A3AA0"/>
          </a:solidFill>
          <a:ln w="12700">
            <a:solidFill>
              <a:srgbClr val="4A3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3AA0"/>
                </a:solidFill>
              </a:rPr>
              <a:t>🔍 ESLint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192024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Analiza tu código y detecta errores potenciales, malas prácticas y violaciones de estilo ANTES de ejecutar.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2487168"/>
            <a:ext cx="182880" cy="182880"/>
          </a:xfrm>
          <a:prstGeom prst="ellipse">
            <a:avLst/>
          </a:prstGeom>
          <a:solidFill>
            <a:srgbClr val="4A3AA0"/>
          </a:solidFill>
          <a:ln w="12700">
            <a:solidFill>
              <a:srgbClr val="4A3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Variables declaradas pero no usadas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2834640"/>
            <a:ext cx="182880" cy="182880"/>
          </a:xfrm>
          <a:prstGeom prst="ellipse">
            <a:avLst/>
          </a:prstGeom>
          <a:solidFill>
            <a:srgbClr val="4A3AA0"/>
          </a:solidFill>
          <a:ln w="12700">
            <a:solidFill>
              <a:srgbClr val="4A3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8163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== en lugar de ===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" y="3182112"/>
            <a:ext cx="182880" cy="182880"/>
          </a:xfrm>
          <a:prstGeom prst="ellipse">
            <a:avLst/>
          </a:prstGeom>
          <a:solidFill>
            <a:srgbClr val="4A3AA0"/>
          </a:solidFill>
          <a:ln w="12700">
            <a:solidFill>
              <a:srgbClr val="4A3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1638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Funciones sin return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" y="3529584"/>
            <a:ext cx="182880" cy="182880"/>
          </a:xfrm>
          <a:prstGeom prst="ellipse">
            <a:avLst/>
          </a:prstGeom>
          <a:solidFill>
            <a:srgbClr val="4A3AA0"/>
          </a:solidFill>
          <a:ln w="12700">
            <a:solidFill>
              <a:srgbClr val="4A3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5112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Variables globales accidentales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" y="3877056"/>
            <a:ext cx="182880" cy="182880"/>
          </a:xfrm>
          <a:prstGeom prst="ellipse">
            <a:avLst/>
          </a:prstGeom>
          <a:solidFill>
            <a:srgbClr val="4A3AA0"/>
          </a:solidFill>
          <a:ln w="12700">
            <a:solidFill>
              <a:srgbClr val="4A3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8587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y cientos de reglas más...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" y="4206240"/>
            <a:ext cx="39776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4251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eslint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eslint --init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417320"/>
            <a:ext cx="4206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1417320"/>
            <a:ext cx="4206240" cy="64008"/>
          </a:xfrm>
          <a:prstGeom prst="rect">
            <a:avLst/>
          </a:prstGeom>
          <a:solidFill>
            <a:srgbClr val="1A8563"/>
          </a:solidFill>
          <a:ln w="12700">
            <a:solidFill>
              <a:srgbClr val="1A8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0328" y="148132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8563"/>
                </a:solidFill>
              </a:rPr>
              <a:t>✨ Prettier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10328" y="192024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Formatea tu código automáticamente. Indentación, comillas, punto y coma — todo consistente con un solo comando.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0328" y="2487168"/>
            <a:ext cx="182880" cy="182880"/>
          </a:xfrm>
          <a:prstGeom prst="ellipse">
            <a:avLst/>
          </a:prstGeom>
          <a:solidFill>
            <a:srgbClr val="1A8563"/>
          </a:solidFill>
          <a:ln w="12700">
            <a:solidFill>
              <a:srgbClr val="1A8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2468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Indentación consistente (2 o 4 espacios)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10328" y="2834640"/>
            <a:ext cx="182880" cy="182880"/>
          </a:xfrm>
          <a:prstGeom prst="ellipse">
            <a:avLst/>
          </a:prstGeom>
          <a:solidFill>
            <a:srgbClr val="1A8563"/>
          </a:solidFill>
          <a:ln w="12700">
            <a:solidFill>
              <a:srgbClr val="1A8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28163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Comillas simples o dobles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10328" y="3182112"/>
            <a:ext cx="182880" cy="182880"/>
          </a:xfrm>
          <a:prstGeom prst="ellipse">
            <a:avLst/>
          </a:prstGeom>
          <a:solidFill>
            <a:srgbClr val="1A8563"/>
          </a:solidFill>
          <a:ln w="12700">
            <a:solidFill>
              <a:srgbClr val="1A8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31638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Punto y coma al final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10328" y="3529584"/>
            <a:ext cx="182880" cy="182880"/>
          </a:xfrm>
          <a:prstGeom prst="ellipse">
            <a:avLst/>
          </a:prstGeom>
          <a:solidFill>
            <a:srgbClr val="1A8563"/>
          </a:solidFill>
          <a:ln w="12700">
            <a:solidFill>
              <a:srgbClr val="1A8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66360" y="35112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Longitud máxima de línea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10328" y="3877056"/>
            <a:ext cx="182880" cy="182880"/>
          </a:xfrm>
          <a:prstGeom prst="ellipse">
            <a:avLst/>
          </a:prstGeom>
          <a:solidFill>
            <a:srgbClr val="1A8563"/>
          </a:solidFill>
          <a:ln w="12700">
            <a:solidFill>
              <a:srgbClr val="1A8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66360" y="38587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Formato de objetos y arrays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910328" y="4206240"/>
            <a:ext cx="39776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65192" y="4251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prettier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prettier --write 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Convenciones de nomenclatura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Nombres consistentes hacen que el código se entienda sin necesidad de comentarios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20624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2062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499616"/>
            <a:ext cx="1783080" cy="274320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Variables y funciones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49961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0" y="1499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camelCase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1847088"/>
            <a:ext cx="3977640" cy="107899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" y="19019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miNombre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1488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precioTotal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" y="23957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calcularArea()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2642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esMayorDeEdad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389888"/>
            <a:ext cx="420624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389888"/>
            <a:ext cx="420624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64608" y="1499616"/>
            <a:ext cx="1783080" cy="274320"/>
          </a:xfrm>
          <a:prstGeom prst="roundRect">
            <a:avLst>
              <a:gd name="adj" fmla="val 16667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149961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Constantes globales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49961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1499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UPPER_SNAKE_CASE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64608" y="1847088"/>
            <a:ext cx="3977640" cy="107899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19019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MAX_INTENTOS =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21488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API_URL = 'https://...'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23957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3.14159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642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TIMEOUT_MS = 5000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172968"/>
            <a:ext cx="420624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172968"/>
            <a:ext cx="420624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9768" y="3282696"/>
            <a:ext cx="1783080" cy="274320"/>
          </a:xfrm>
          <a:prstGeom prst="roundRect">
            <a:avLst>
              <a:gd name="adj" fmla="val 16667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9768" y="328269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Clases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328269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86000" y="32826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42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PascalCase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" y="3630168"/>
            <a:ext cx="3977640" cy="107899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" y="36850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Usuario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" y="39319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ProductoDigital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" y="41788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CarritoDeCompras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" y="442569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ConexionBD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172968"/>
            <a:ext cx="420624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3172968"/>
            <a:ext cx="420624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64608" y="3282696"/>
            <a:ext cx="1783080" cy="274320"/>
          </a:xfrm>
          <a:prstGeom prst="roundRect">
            <a:avLst>
              <a:gd name="adj" fmla="val 16667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64608" y="328269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Archivos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328269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20840" y="32826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kebab-case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64608" y="3630168"/>
            <a:ext cx="3977640" cy="107899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19472" y="36850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mi-componente.js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19472" y="39319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calcular-impuesto.js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19472" y="41788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validar-formulario.js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19472" y="442569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api-service.js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Patrones de diseño básicos en JavaScript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Soluciones probadas a problemas comunes. No hay que inventarlos — ya existen.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80"/>
                </a:solidFill>
              </a:rPr>
              <a:t>Module Pattern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892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Encapsula código en un módulo con estado privado. Evita contaminar el scope global.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404872"/>
            <a:ext cx="2468880" cy="22402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2468880"/>
            <a:ext cx="233172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contador = (()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_cuenta = 0; // privado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incrementar: () =&gt; ++_cuenta,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decrementar: () =&gt; --_cuenta,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valor: () =&gt; _cuenta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contador.incrementar(); // →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8754"/>
                </a:solidFill>
              </a:rPr>
              <a:t>Factory Pattern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892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Función que crea y devuelve objetos. Más flexible que usar clases directamente.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128" y="2404872"/>
            <a:ext cx="2468880" cy="22402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4992" y="2468880"/>
            <a:ext cx="233172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crearUsuario(nombre, rol)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saludar()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`Hola, soy ${this.nombre}`;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 = crearUsuario("Ana","admin");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1417320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048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42C1"/>
                </a:solidFill>
              </a:rPr>
              <a:t>Observer Pattern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1892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Un objeto notifica a sus suscriptores cuando cambia. Base de muchos frameworks modernos.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0488" y="2404872"/>
            <a:ext cx="2468880" cy="22402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45352" y="2468880"/>
            <a:ext cx="233172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crearEventEmitter()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listeners = {};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on(evento, fn)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listeners[evento] = listeners[evento] || [];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listeners[evento].push(fn);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emit(evento, data)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(listeners[evento]||[]).forEach(fn=&gt;fn(data));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JSDoc — documentar como los profesionales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Comentarios especiales que describen qué hace una función, qué recibe y qué devuelve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846320" cy="35204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9961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49961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49961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Calcula el descuento aplicado a un precio.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@param {number} precio - Precio original del producto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@param {number} porcentaje - Porcentaje de descuento (0-100)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@returns {number} Precio final con descuento aplicado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@throws {RangeError} Si el porcentaje está fuera de 0-100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@example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calcularDescuento(200, 20); // → 160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calcularDescuento(100, 0);  // → 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calcularDescuento(precio, porcentaje)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(porcentaje &lt; 0 || porcentaje &gt; 100)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RangeError("Porcentaje fuera de rango");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precio * (1 - porcentaje / 100);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40680" y="1389888"/>
            <a:ext cx="3429000" cy="352044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50408" y="1508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Tags JSDoc más usados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50408" y="1965960"/>
            <a:ext cx="3200400" cy="530352"/>
          </a:xfrm>
          <a:prstGeom prst="rect">
            <a:avLst/>
          </a:prstGeom>
          <a:solidFill>
            <a:srgbClr val="1E2E8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77840" y="2002536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0" y="20025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56832" y="2011680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Parámetro de entrada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96128" y="2258568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{tipo} nombre - descripción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50408" y="2560320"/>
            <a:ext cx="3200400" cy="530352"/>
          </a:xfrm>
          <a:prstGeom prst="rect">
            <a:avLst/>
          </a:prstGeom>
          <a:solidFill>
            <a:srgbClr val="1E2E8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77840" y="2596896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77840" y="259689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@returns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56832" y="2606040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Valor devuelto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96128" y="2852928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{tipo} descripción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50408" y="3154680"/>
            <a:ext cx="3200400" cy="530352"/>
          </a:xfrm>
          <a:prstGeom prst="rect">
            <a:avLst/>
          </a:prstGeom>
          <a:solidFill>
            <a:srgbClr val="1E2E8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77840" y="3191256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77840" y="319125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@throws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56832" y="3200400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Error que puede lanzar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96128" y="3447288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{ErrorType} cuándo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50408" y="3749040"/>
            <a:ext cx="3200400" cy="530352"/>
          </a:xfrm>
          <a:prstGeom prst="rect">
            <a:avLst/>
          </a:prstGeom>
          <a:solidFill>
            <a:srgbClr val="1E2E8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77840" y="3785616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0" y="37856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@example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56832" y="3794760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Cómo usarla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96128" y="4041648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de ejemplo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50408" y="4343400"/>
            <a:ext cx="3200400" cy="530352"/>
          </a:xfrm>
          <a:prstGeom prst="rect">
            <a:avLst/>
          </a:prstGeom>
          <a:solidFill>
            <a:srgbClr val="1E2E8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577840" y="4379976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77840" y="437997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@deprecated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56832" y="4389120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Función obsoleta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96128" y="4636008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/ qué usar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Lo que aprendiste en este curso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11 clases · 22 horas · 7 módulos completos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01168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438912" cy="292608"/>
          </a:xfrm>
          <a:prstGeom prst="roundRect">
            <a:avLst>
              <a:gd name="adj" fmla="val 12500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80"/>
                </a:solidFill>
              </a:rPr>
              <a:t>Fundamentos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Variables, tipos, objetos, arrays, operadores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41732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96312" y="1417320"/>
            <a:ext cx="20116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87752" y="1527048"/>
            <a:ext cx="438912" cy="292608"/>
          </a:xfrm>
          <a:prstGeom prst="roundRect">
            <a:avLst>
              <a:gd name="adj" fmla="val 12500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87752" y="152704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90672" y="15544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42C1"/>
                </a:solidFill>
              </a:rPr>
              <a:t>Estructuras de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87752" y="18928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if/else, switch, for, while, break, continue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72584" y="141732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72584" y="1417320"/>
            <a:ext cx="20116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64024" y="1527048"/>
            <a:ext cx="438912" cy="292608"/>
          </a:xfrm>
          <a:prstGeom prst="roundRect">
            <a:avLst>
              <a:gd name="adj" fmla="val 12500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64024" y="152704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66944" y="15544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Funciones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4024" y="18928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Declaración, parámetros, arrow, scope, closures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48856" y="141732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48856" y="141732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40296" y="1527048"/>
            <a:ext cx="438912" cy="292608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40296" y="152704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43216" y="15544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Arreglos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0296" y="18928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map, filter, reduce, forEach y métodos básicos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88036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2880360"/>
            <a:ext cx="201168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2990088"/>
            <a:ext cx="438912" cy="292608"/>
          </a:xfrm>
          <a:prstGeom prst="roundRect">
            <a:avLst>
              <a:gd name="adj" fmla="val 12500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299008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30175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7E14"/>
                </a:solidFill>
              </a:rPr>
              <a:t>Objetos Avanzados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35584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Desestructuración, JSON, Set, Map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96312" y="288036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96312" y="2880360"/>
            <a:ext cx="20116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587752" y="2990088"/>
            <a:ext cx="438912" cy="292608"/>
          </a:xfrm>
          <a:prstGeom prst="roundRect">
            <a:avLst>
              <a:gd name="adj" fmla="val 12500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87752" y="299008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90672" y="30175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3545"/>
                </a:solidFill>
              </a:rPr>
              <a:t>Errores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87752" y="335584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try/catch/finally, throw, DevTools, debugging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72584" y="288036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72584" y="2880360"/>
            <a:ext cx="2011680" cy="640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64024" y="2990088"/>
            <a:ext cx="438912" cy="292608"/>
          </a:xfrm>
          <a:prstGeom prst="roundRect">
            <a:avLst>
              <a:gd name="adj" fmla="val 12500"/>
            </a:avLst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64024" y="299008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66944" y="30175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Buenas Prácticas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64024" y="335584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ESLint, Prettier, patrones, JSDoc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¿Y ahora qué? — Próximos pasos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Terminaste el curso inicial. Tenés las bases. Ahora es momento de construir.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697480" cy="340156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6974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481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8754"/>
                </a:solidFill>
              </a:rPr>
              <a:t>Corto plazo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" y="1993392"/>
            <a:ext cx="2468880" cy="80467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" y="2249424"/>
            <a:ext cx="164592" cy="164592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" y="2066544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Practicá 30 min diarios en la consola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2926080"/>
            <a:ext cx="2468880" cy="80467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" y="3182112"/>
            <a:ext cx="164592" cy="164592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" y="2999232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Resolvé ejercicios en Codewars o LeetCode (nivel fácil)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3858768"/>
            <a:ext cx="2468880" cy="80467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" y="4114800"/>
            <a:ext cx="164592" cy="164592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" y="3931920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Construí 3 mini proyectos: calculadora, lista de tareas, quiz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389888"/>
            <a:ext cx="2697480" cy="340156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389888"/>
            <a:ext cx="269748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10128" y="1481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94760" y="15087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80"/>
                </a:solidFill>
              </a:rPr>
              <a:t>Mediano plazo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10128" y="1993392"/>
            <a:ext cx="2468880" cy="80467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64992" y="2249424"/>
            <a:ext cx="164592" cy="164592"/>
          </a:xfrm>
          <a:prstGeom prst="ellipse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84448" y="2066544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Aprende el DOM (manipular páginas web con JS)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0128" y="2926080"/>
            <a:ext cx="2468880" cy="80467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64992" y="3182112"/>
            <a:ext cx="164592" cy="164592"/>
          </a:xfrm>
          <a:prstGeom prst="ellipse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84448" y="2999232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Aprende fetch y APIs (conectar a servicios externos)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10128" y="3858768"/>
            <a:ext cx="2468880" cy="80467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64992" y="4114800"/>
            <a:ext cx="164592" cy="164592"/>
          </a:xfrm>
          <a:prstGeom prst="ellipse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84448" y="3931920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Aprende promesas y async/await (JavaScript asíncrono)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1389888"/>
            <a:ext cx="2697480" cy="340156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0760" y="1389888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90488" y="1481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75120" y="15087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42C1"/>
                </a:solidFill>
              </a:rPr>
              <a:t>Largo plazo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90488" y="1993392"/>
            <a:ext cx="2468880" cy="80467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45352" y="2249424"/>
            <a:ext cx="164592" cy="164592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64808" y="2066544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Elige un framework: React, Vue o Angular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0488" y="2926080"/>
            <a:ext cx="2468880" cy="80467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45352" y="3182112"/>
            <a:ext cx="164592" cy="164592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64808" y="2999232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Aprende Node.js para el backend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90488" y="3858768"/>
            <a:ext cx="2468880" cy="804672"/>
          </a:xfrm>
          <a:prstGeom prst="rect">
            <a:avLst/>
          </a:prstGeom>
          <a:solidFill>
            <a:srgbClr val="1A2E72"/>
          </a:solidFill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45352" y="4114800"/>
            <a:ext cx="164592" cy="164592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64808" y="3931920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Construye un proyecto real completo y súbelo a GitHub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¡Lo lograron!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75021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B"/>
                </a:solidFill>
              </a:rPr>
              <a:t>Completaron el Curso Inicial de JavaScript.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AECB"/>
                </a:solidFill>
              </a:rPr>
              <a:t>Ahora tienen las bases para seguir creciendo.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6811" y="1508760"/>
            <a:ext cx="237744" cy="23774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6811" y="1508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50418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</a:rPr>
              <a:t>Fundamentos sólidos de JavaScript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6811" y="1874520"/>
            <a:ext cx="237744" cy="23774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811" y="1874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82402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</a:rPr>
              <a:t>Estructuras de control y bucles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6811" y="2240280"/>
            <a:ext cx="237744" cy="23774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811" y="2240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</a:rPr>
              <a:t>Funciones, scope y closures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6811" y="2606040"/>
            <a:ext cx="237744" cy="23774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6811" y="2606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57840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</a:rPr>
              <a:t>Métodos funcionales de arrays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6811" y="2971800"/>
            <a:ext cx="237744" cy="23774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811" y="29718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291549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</a:rPr>
              <a:t>Objetos, JSON, Set y Map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6811" y="3337560"/>
            <a:ext cx="237744" cy="23774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811" y="33375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24467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</a:rPr>
              <a:t>Manejo profesional de errores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6811" y="3703320"/>
            <a:ext cx="237744" cy="23774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6811" y="37033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6235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</a:rPr>
              <a:t>Buenas prácticas y patrones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26795" y="2359152"/>
            <a:ext cx="25282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AB0"/>
                </a:solidFill>
              </a:rPr>
              <a:t>Prof. Javier Gutiérrez  ·  Coding Bootcamps ESPOL  ·  2026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Abril – Mayo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1271</Words>
  <Application>Microsoft Office PowerPoint</Application>
  <PresentationFormat>On-screen Show (16:9)</PresentationFormat>
  <Paragraphs>236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11 - Buenas Prácticas, Patrones y Cierre</dc:title>
  <dc:subject>PptxGenJS Presentation</dc:subject>
  <dc:creator>PptxGenJS</dc:creator>
  <cp:lastModifiedBy>Javier Alejandro Gutierrez Macias</cp:lastModifiedBy>
  <cp:revision>2</cp:revision>
  <dcterms:created xsi:type="dcterms:W3CDTF">2026-03-28T23:30:55Z</dcterms:created>
  <dcterms:modified xsi:type="dcterms:W3CDTF">2026-03-29T21:04:32Z</dcterms:modified>
</cp:coreProperties>
</file>