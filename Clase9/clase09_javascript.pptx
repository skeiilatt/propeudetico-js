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3997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2060"/>
          </a:solidFill>
          <a:ln w="12700">
            <a:solidFill>
              <a:srgbClr val="14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90D9"/>
                </a:solidFill>
              </a:rPr>
              <a:t>CLASE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Objetos Avanzados,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JSON, Set y Map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Prof. Javier Gutiérrez  ·  Coding Bootcamps ESPOL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Módulo 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9456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Mié 6 may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19h30 – 21h30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B0"/>
                </a:solidFill>
              </a:rPr>
              <a:t>Coding Bootcamps ESPOL  ·  Curso Inicial de JavaScript  ·  2026</a:t>
            </a:r>
            <a:endParaRPr lang="en-US" sz="900" dirty="0"/>
          </a:p>
        </p:txBody>
      </p:sp>
      <p:pic>
        <p:nvPicPr>
          <p:cNvPr id="16" name="Picture 15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4808" y="2103120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Agenda del día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Objetos en profundidad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Desestructuración, spread, métodos de Object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JSON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Formato de intercambio de datos — parse y stringify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651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Set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926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Colección de valores únicos sin duplicados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31012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3832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Map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6576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Pares clave-valor con cualquier tipo de clave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04164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114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Ejercicio integrador — Módulo 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3891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API simulada con JSON, Set y Map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Picture 29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827" y="219017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Desestructuración de objetos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7555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Extraer propiedades de un objeto en variables individuales — de forma limpia y concisa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029200" cy="331012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2704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" y="152704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" y="152704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4846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usuario =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nombre: "Ana",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edad: 22,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ciudad: "Guayaquil"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 desestructuración (forma vieja):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nombre = usuario.nombre;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edad   = usuario.edad;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 desestructuración (forma moderna):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nombre, edad, ciudad } = usuario;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console.log(nombre); // → "Ana"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console.log(edad);   // → 22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 valor por defecto: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nombre, pais = "Ecuador" } = usuario;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console.log(pais); // → "Ecuador" (no existía en el objeto)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Renombrar al desestructurar: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nombre: nombreCompleto } = usuario;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console.log(nombreCompleto); // → "Ana"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parámetros de función: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saludar({ nombre, edad })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`Hola ${nombre}, tenés ${edad} años`;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577840" y="1417320"/>
            <a:ext cx="329184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87568" y="15087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</a:rPr>
              <a:t>Desestructuración de arrays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87568" y="1920240"/>
            <a:ext cx="3063240" cy="2633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0" y="1984248"/>
            <a:ext cx="2926080" cy="2505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nums = [10, 20, 30];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Extrae por posición: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[a, b, c] = nums;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console.log(a); // → 10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console.log(b); // → 20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Saltar elementos: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[primero, , tercero] = nums;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primero=10, tercero=30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Rest operator: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[x, ...resto] = nums;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x=10, resto=[20,30]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Spread operator y métodos de Object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36576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4088" y="113385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05256" y="1133856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8229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SPREAD OPERATOR (...) —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copiar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base    = {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"Ana",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22 };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extra   = { ciudad: "Gye",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activo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true };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completo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 ...base, ...extra };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{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:"Ana", edad:22,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ciudad:"Gye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activo:true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Modificar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sin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mutar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original: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actualizado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 ...base,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23 };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{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:"Ana", edad:23 }  —  base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sigue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siendo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edad:22 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MÉTODOS DE OBJECT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auto = {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marca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:"Toyota",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color:"rojo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año:2022 };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Object.keys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(auto)    // → ["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marca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","color","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año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   (array de claves)</a:t>
            </a:r>
            <a:endParaRPr lang="en-US" sz="850" dirty="0"/>
          </a:p>
          <a:p>
            <a:pPr marL="0" indent="0">
              <a:buNone/>
            </a:pP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Object.values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(auto)  // → ["Toyota","rojo",2022]    (array de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Object.entries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(auto) // → [["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marca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","Toyota"],["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color","rojo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"],["año",2022]]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Recorrer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 entries:</a:t>
            </a:r>
            <a:endParaRPr lang="en-US" sz="850" dirty="0"/>
          </a:p>
          <a:p>
            <a:pPr marL="0" indent="0">
              <a:buNone/>
            </a:pP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Object.entries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(auto).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(([clave, valor]) =&gt;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console.log(clave + ": " + valor);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Verificar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propiedad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50" dirty="0"/>
          </a:p>
          <a:p>
            <a:pPr marL="0" indent="0">
              <a:buNone/>
            </a:pP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Object.hasOwn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(auto, "</a:t>
            </a:r>
            <a:r>
              <a:rPr lang="en-US" sz="850" dirty="0" err="1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marca</a:t>
            </a: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  // → true  (forma moderna)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JSON — JavaScript Object Notation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Formato universal para intercambiar datos entre sistemas. Servidores, APIs y bases de datos lo usan constantemente.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31920" cy="6400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48132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80"/>
                </a:solidFill>
              </a:rPr>
              <a:t>Objeto JavaScript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892808"/>
            <a:ext cx="3703320" cy="12618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356616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nombre: "Ana",    // ← sin comillas en clave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edad: 22,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activo: 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417320"/>
            <a:ext cx="3931920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56048" y="148132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8754"/>
                </a:solidFill>
              </a:rPr>
              <a:t>JSON (texto)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56048" y="1892808"/>
            <a:ext cx="3703320" cy="12618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1956816"/>
            <a:ext cx="356616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"nombre": "Ana",  // ← claves con comillas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"edad": 22,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"activo": 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8412480" cy="15971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4088" y="353872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5256" y="353872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82296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JSON.stringify — objeto JS → string JSON  (para enviar a un servidor)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jsonTexto = JSON.stringify(user);          // → '{"nombre":"Ana","edad":22,"activo":true}'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bonito    = JSON.stringify(user, null, 2); // → con indentación (más legible)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JSON.parse — string JSON → objeto JS  (para procesar respuesta de un servidor)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texto = '{"nombre":"Ana","edad":22}';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objeto = JSON.parse(texto);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console.log(objeto.nombre); // → "Ana"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Set — colección de valores únicos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720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Un Set es como un array pero sin duplicados. Si intentás agregar un valor que ya existe, lo ignora.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0996"/>
            <a:ext cx="4846320" cy="35204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220724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" y="122072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" y="1220724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34874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Crear un Set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colores = new Set(["rojo","verde","azul","rojo"]);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console.log(colores); // → Set {"rojo","verde","azul"}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"rojo" aparece una sola vez ✅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Métodos del Set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colores.add("amarillo");     // agrega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colores.delete("verde");     // elimina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colores.has("rojo");         // → true (¿existe?)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colores.size;                // → 3 (cantidad)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colores.clear();             // vacía todo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Recorrer un Set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color of colores)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console.log(color);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CASO MUY ÚTIL: eliminar duplicados de un array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conDuplicados = [1,2,2,3,3,3,4];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sinDuplicados = [...new Set(conDuplicados)];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console.log(sinDuplicados); // → [1,2,3,4]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40680" y="1124711"/>
            <a:ext cx="3429000" cy="3750069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50408" y="12435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Set vs Array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50408" y="1573858"/>
            <a:ext cx="3200400" cy="530352"/>
          </a:xfrm>
          <a:prstGeom prst="rect">
            <a:avLst/>
          </a:prstGeom>
          <a:solidFill>
            <a:srgbClr val="1E2E80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86984" y="1506337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</a:rPr>
              <a:t>Duplicados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86984" y="1797886"/>
            <a:ext cx="12709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0E0"/>
                </a:solidFill>
              </a:rPr>
              <a:t>Permite duplicados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29400" y="1670021"/>
            <a:ext cx="0" cy="411480"/>
          </a:xfrm>
          <a:prstGeom prst="line">
            <a:avLst/>
          </a:prstGeom>
          <a:noFill/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93408" y="1610434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</a:rPr>
              <a:t>NO permite duplicados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50408" y="2171731"/>
            <a:ext cx="3200400" cy="530352"/>
          </a:xfrm>
          <a:prstGeom prst="rect">
            <a:avLst/>
          </a:prstGeom>
          <a:solidFill>
            <a:srgbClr val="1E2E80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86984" y="2054977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</a:rPr>
              <a:t>Orden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86984" y="2402449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0E0"/>
                </a:solidFill>
              </a:rPr>
              <a:t>Ordenado por índice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29400" y="2340864"/>
            <a:ext cx="0" cy="411480"/>
          </a:xfrm>
          <a:prstGeom prst="line">
            <a:avLst/>
          </a:prstGeom>
          <a:noFill/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84263" y="219456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</a:rPr>
              <a:t>Ordenado por inserción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50408" y="2786802"/>
            <a:ext cx="3200400" cy="530352"/>
          </a:xfrm>
          <a:prstGeom prst="rect">
            <a:avLst/>
          </a:prstGeom>
          <a:solidFill>
            <a:srgbClr val="1E2E80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586984" y="267919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</a:rPr>
              <a:t>Buscar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96128" y="2989543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0E0"/>
                </a:solidFill>
              </a:rPr>
              <a:t>arr.includes(x)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29400" y="2926080"/>
            <a:ext cx="0" cy="411480"/>
          </a:xfrm>
          <a:prstGeom prst="line">
            <a:avLst/>
          </a:prstGeom>
          <a:noFill/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02552" y="2841361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</a:rPr>
              <a:t>set.has(x)  — más rápido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50408" y="3456432"/>
            <a:ext cx="3200400" cy="530352"/>
          </a:xfrm>
          <a:prstGeom prst="rect">
            <a:avLst/>
          </a:prstGeom>
          <a:solidFill>
            <a:srgbClr val="1E2E80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96128" y="3493008"/>
            <a:ext cx="1005840" cy="285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</a:rPr>
              <a:t>Tamaño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96128" y="371246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0E0"/>
                </a:solidFill>
              </a:rPr>
              <a:t>arr.length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29400" y="3511296"/>
            <a:ext cx="0" cy="411480"/>
          </a:xfrm>
          <a:prstGeom prst="line">
            <a:avLst/>
          </a:prstGeom>
          <a:noFill/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93408" y="3493008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</a:rPr>
              <a:t>set.size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50408" y="4041647"/>
            <a:ext cx="3200400" cy="669631"/>
          </a:xfrm>
          <a:prstGeom prst="rect">
            <a:avLst/>
          </a:prstGeom>
          <a:solidFill>
            <a:srgbClr val="1E2E80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96128" y="4078224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</a:rPr>
              <a:t>Caso de uso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09844" y="437997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0E0"/>
                </a:solidFill>
              </a:rPr>
              <a:t>Lista general de datos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29400" y="4096512"/>
            <a:ext cx="0" cy="411480"/>
          </a:xfrm>
          <a:prstGeom prst="line">
            <a:avLst/>
          </a:prstGeom>
          <a:noFill/>
          <a:ln w="635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693408" y="4078224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</a:rPr>
              <a:t>Lista de valores únicos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Map — pares clave-valor con cualquier tipo de clave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Como un objeto pero las claves pueden ser de CUALQUIER tipo — strings, numbers, objetos, funciones...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846320" cy="3675464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2704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" y="152704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" y="152704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46634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Crear un Map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scores = new Map();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Agregar pares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scores.set("Ana", 95);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scores.set("Carlos", 87);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scores.set("María", 92);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scores.get("Ana");     // → 95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scores.has("Carlos");  // → true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scores.size;           // → 3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Recorrer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[nombre, puntos] of scores)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console.log(nombre + ": " + puntos);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Clave puede ser cualquier tipo: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 = new Map();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m.set(1, "uno");         // clave number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m.set(true, "verdad");   // clave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obj = {};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m.set(obj, "mi objeto"); // clave objeto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m.get(1);    // → "uno"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40680" y="1417319"/>
            <a:ext cx="3429000" cy="367546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50408" y="15087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Map vs Objeto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50408" y="1965960"/>
            <a:ext cx="3200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96128" y="19842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6D"/>
                </a:solidFill>
              </a:rPr>
              <a:t>Tipo de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96128" y="221284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Obj: Solo strings/Symbols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96128" y="240487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98754"/>
                </a:solidFill>
              </a:rPr>
              <a:t>Map: Cualquier tipo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50408" y="2679192"/>
            <a:ext cx="3200400" cy="658368"/>
          </a:xfrm>
          <a:prstGeom prst="rect">
            <a:avLst/>
          </a:prstGeom>
          <a:solidFill>
            <a:srgbClr val="F0EEE8"/>
          </a:solidFill>
          <a:ln w="1270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96128" y="26974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6D"/>
                </a:solidFill>
              </a:rPr>
              <a:t>Tamaño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96128" y="292608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Obj: Object.keys().length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96128" y="311810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98754"/>
                </a:solidFill>
              </a:rPr>
              <a:t>Map: .size (directo)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50408" y="3392424"/>
            <a:ext cx="3200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96128" y="341071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6D"/>
                </a:solidFill>
              </a:rPr>
              <a:t>Iteración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96128" y="363931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Obj: for...in (no garantiza orden)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96128" y="3831336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98754"/>
                </a:solidFill>
              </a:rPr>
              <a:t>Map: for...of (orden de inserción)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50408" y="4105656"/>
            <a:ext cx="3200400" cy="658368"/>
          </a:xfrm>
          <a:prstGeom prst="rect">
            <a:avLst/>
          </a:prstGeom>
          <a:solidFill>
            <a:srgbClr val="F0EEE8"/>
          </a:solidFill>
          <a:ln w="1270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96128" y="412394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6D"/>
                </a:solidFill>
              </a:rPr>
              <a:t>Rendimiento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96128" y="435254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Obj: Bien para datos estáticos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96128" y="454456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98754"/>
                </a:solidFill>
              </a:rPr>
              <a:t>Map: Mejor para muchas inserciones/borrados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Ejercicio Integrador — Módulo 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Simulamos el procesamiento de datos de una API con JSON, Set y 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029200" cy="3645186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2704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" y="152704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" y="152704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4846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Datos que llegan de una API (como JSON string)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jsonData = '[{"id":1,"tag":"js"},{"id":2,"tag":"css"},{"id":3,"tag":"js"},{"id":4,"tag":"html"}]';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Parsear el JSON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posts = JSON.parse(jsonData);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Set de tags únicos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tagsUnicos = new Set(posts.map(p =&gt; p.tag));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console.log([...tagsUnicos]); // ["js","css","html"]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Map de posts por tag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porTag = new Map();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posts.forEach(post =&gt;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(!porTag.has(post.tag))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porTag.set(post.tag, []);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porTag.get(post.tag).push(post.id);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console.log(porTag.get("js")); // → [1, 3]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 Convertir de vuelta a JSON para "enviar"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resultado = JSON.stringify([...tagsUnicos]);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console.log(resultado); // → '["js","css","html"]'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0" y="1417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Desafíos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192024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0" y="1920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193852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Usá desestructuración al iterar los posts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0" y="251460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0" y="2514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53288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Contá cuántos posts hay por tag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0" y="310896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0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312724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Encontrá todos los posts de tag 'js' con filter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0" y="370332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3703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372160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Convertí el Map a un objeto usando Object.fromEntries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0" y="429768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0" y="4297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43159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Usá spread para combinar dos arrays de posts sin duplicar ids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Errores comunes — JSON, Set, 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JSON.parse de JSON inválido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JSON tiene reglas estrictas: claves con comillas dobles, sin comentarios, sin trailing comma.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JSON inválido: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JSON.parse("{ nombre: 'Ana' }");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claves sin comillas 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comillas simples → 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976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SyntaxError: Unexpected token n in JSON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3236976"/>
            <a:ext cx="2468880" cy="749808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JSON válido: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JSON.parse('{ "nombre": "Ana" }');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{ nombre: "Ana" }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434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Modificar Set durante iteración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No modifiques un Set mientras lo iterás con for...of. Puede causar comportamientos inesperados.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012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6499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set = new Set([1,2,3]);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for(const v of set){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set.add(v+10); // modifica durante iter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puede causar bucle infinito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012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3756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Comportamiento indefinido / bucle infinito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10128" y="3236976"/>
            <a:ext cx="2468880" cy="1152144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6499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set = new Set([1,2,3]);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nuevos = [...set].map(v =&gt; v+10);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resultado = new Set(nuevos);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Set {11, 12, 13} 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4434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8076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9048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Usar get en Map sin verificar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048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Si la clave no existe en el Map, get devuelve undefined. Operar sobre undefined da error.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048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4535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 = new Map();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m.set("a", [1,2,3]);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m.get("b").push(4); // ❌ "b" no existe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9048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TypeError: Cannot read properties of undefined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90488" y="3236976"/>
            <a:ext cx="2468880" cy="749808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4535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if(!m.has("b")) m.set("b",[]);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m.get("b").push(4); // 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90488" y="4434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Resumen de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Desestructuración: const { a, b } = obj — extrae propiedades en variables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408176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08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4081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Spread (...): combina y copia objetos/arrays sin mutar el original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901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90195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JSON.stringify: objeto → string  |  JSON.parse: string → objeto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395728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395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3957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Set: colección sin duplicados — ideal para valores únicos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2889504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8895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88950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Map: pares clave-valor con cualquier tipo de clave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52160" y="777240"/>
            <a:ext cx="3063240" cy="2587752"/>
          </a:xfrm>
          <a:prstGeom prst="rect">
            <a:avLst/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52160" y="777240"/>
            <a:ext cx="3063240" cy="73152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89320" y="8503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E66D"/>
                </a:solidFill>
              </a:rPr>
              <a:t>Tarea para casa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89320" y="1298448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1.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1072" y="129844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Parsea este JSON y extrae solo los nombres: '[{"id":1,"nombre":"Ana"},{"id":2,"nombre":"Carlos"}]'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18288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2.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91072" y="18288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Dado un array con palabras repetidas, usá Set para eliminar duplicados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89320" y="235915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3.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23591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Creá un Map que cuente cuántas veces aparece cada letra en una frase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89320" y="2889504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4.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91072" y="288950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Subí a clase-09 en GitHub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2002</Words>
  <Application>Microsoft Office PowerPoint</Application>
  <PresentationFormat>On-screen Show (16:9)</PresentationFormat>
  <Paragraphs>295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9 - Objetos, JSON, Set y Map</dc:title>
  <dc:subject>PptxGenJS Presentation</dc:subject>
  <dc:creator>PptxGenJS</dc:creator>
  <cp:lastModifiedBy>Javier Alejandro Gutierrez Macias</cp:lastModifiedBy>
  <cp:revision>2</cp:revision>
  <dcterms:created xsi:type="dcterms:W3CDTF">2026-03-28T23:26:53Z</dcterms:created>
  <dcterms:modified xsi:type="dcterms:W3CDTF">2026-03-29T20:32:15Z</dcterms:modified>
</cp:coreProperties>
</file>